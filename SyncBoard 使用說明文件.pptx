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5B26B4-786A-4C21-875B-8D36004C0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BA990D4-A963-4188-BA3A-CD1B6415C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2B9F4ED-5AF8-4E86-81C8-BB53074E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0C8C6D-0A89-4215-BE50-0CD4DB62C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48D28E1-79EA-465A-BA0F-4DB45DF0E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7358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C871C8-C223-4DC5-ABBB-0674E7917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1D0CB1-669D-4E5E-8C4E-EFF5FDA9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813B40-E0D9-45C4-99DA-DE77CBC6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6E79D6C-C71F-4376-BCC0-CBDE6F652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358C63-A2F8-4765-9AF6-3F806C0E0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2411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90DC38-AF51-4E33-95FB-EF163AC6E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7ADE35E-FA25-4BF5-86E4-98568646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B1FB78-1BAB-457B-92BD-3FAC282B5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8D37C0-D306-4FF7-AC86-DDB11A012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221A1F-6B62-400D-949C-03322347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287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D7BA38-2050-4016-823A-3A951C423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93E8005-A157-449F-9393-61042035F0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B69065C-18AC-48DF-82D4-82C242AFD0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97C30E-92B7-4A58-8483-ED066ABCC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1DD1221-79F2-4DAD-A9C8-ADD58474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5AD48B-E949-41C2-AA0C-A848143C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1548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D83AC6-427D-449D-9E96-FF3C9540B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3C741D2-C5A5-4FA2-890E-C65C88BEC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0610730-1B12-4066-BC83-97BA7EDFB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C3C4B94-509B-4CEF-9EE5-19882FA0AB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0A5B97B-E3F2-45CC-99E5-ACB100A97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05844AA-DE49-4500-A635-D23D89981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9814BB1-37EF-4593-ACB5-C4469725A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D282CAB-1CD3-478E-965B-CEC8AC767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8105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1F815F-35DC-4124-AAA1-DE6DE47D1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0F4356D-70E2-4E50-8032-4C258A35C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DE89519-7ED6-4825-838A-544ED2EE4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E297DB9-375A-4162-843E-665D430F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9834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C0F6719-D5E9-405D-B897-F790E311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88579E4-7995-46A4-B57F-202A4A984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263BB0-8186-4CC5-AB11-6F22FED1A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591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2E4AAC-760E-4697-91DC-4B5EEDD38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E53C6C-00CD-42F3-88A0-8B7EA9795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ED174A3-DF0D-4999-A18D-8013C9D25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CB1538-9809-41DB-ADB7-C1F6AF5B2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B00228-F88C-4CE3-A524-EBBE7CE11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FAD5A09-0B9C-4818-9048-E0BAB02F7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334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FAFFE3-2B83-46DF-A620-43F2DD5A7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845CDDE-9712-44CD-9529-08720A4C0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3A9E3C5-6E6E-4DCB-9FFC-66E29C5799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A3409D7-D15F-4E5E-A5EB-F2C6384B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6AB643-D5F6-48BA-99D7-4FD0C0FEB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3470F20-811E-4202-821F-B8673CD07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042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978BDF-24F9-4FDD-B289-395DD0660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7FCD92-A0F1-4030-9FB8-6518219066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B61715B-828F-4C28-87A1-BE2888F1E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D27702-B912-4E52-A0EE-49D21DCAF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7D17F6-F0B4-492C-B8B9-CA1F2CB45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749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0763734-995B-46E2-BB62-D7040232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7CDE35C-F380-4D11-941A-A39EEEE7D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9AA58F-3DE4-4630-B45C-AFAA12435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44CDF7-C8A3-4787-A377-D539FD2F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BFF697A-2CCA-4E64-AFE8-949D2B289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4604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A7399BD-4662-48F7-9AC6-59734CC33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843F487-8B69-4161-93F3-9BBBBB8A6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943B5C2-D977-42A0-AFAB-BEDB949B96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CDB231-F13C-44D7-87DA-8AED873F6DD1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13AB79-3970-4722-A3FD-C627D5BAFB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AB69D6-621C-4004-9884-2EEB5CFB36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F50F3-5D2B-4C8B-BA23-0230A475B1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068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7F6D52-10DE-4E73-B663-855A72994D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sz="4800" b="1" dirty="0" err="1"/>
              <a:t>SyncBoard</a:t>
            </a:r>
            <a:r>
              <a:rPr lang="zh-TW" altLang="en-US" sz="4800" b="1" dirty="0"/>
              <a:t> 使用說明文件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32A6A5-5335-41E0-937E-5839C31919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dirty="0" err="1"/>
              <a:t>DeviceOn</a:t>
            </a:r>
            <a:r>
              <a:rPr lang="en-US" altLang="zh-TW" dirty="0"/>
              <a:t> Team: Fabian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94731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1D5D0C-82CE-436F-BFD6-9646E0EDD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4" y="0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200" dirty="0"/>
              <a:t>選擇 </a:t>
            </a:r>
            <a:r>
              <a:rPr lang="en-US" altLang="zh-TW" sz="3200" dirty="0"/>
              <a:t>[</a:t>
            </a:r>
            <a:r>
              <a:rPr lang="zh-TW" altLang="en-US" sz="3200" dirty="0"/>
              <a:t>會議日期</a:t>
            </a:r>
            <a:r>
              <a:rPr lang="en-US" altLang="zh-TW" sz="3200" dirty="0"/>
              <a:t>]</a:t>
            </a:r>
            <a:r>
              <a:rPr lang="zh-TW" altLang="en-US" sz="3200" dirty="0"/>
              <a:t> 後點選 </a:t>
            </a:r>
            <a:r>
              <a:rPr lang="en-US" altLang="zh-TW" sz="3200" dirty="0"/>
              <a:t>[</a:t>
            </a:r>
            <a:r>
              <a:rPr lang="zh-TW" altLang="en-US" sz="3200" dirty="0"/>
              <a:t>前往</a:t>
            </a:r>
            <a:r>
              <a:rPr lang="en-US" altLang="zh-TW" sz="3200" dirty="0"/>
              <a:t>]</a:t>
            </a:r>
            <a:endParaRPr lang="zh-TW" altLang="en-US" sz="32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C59DB8-9D26-4BBC-80DD-604960D9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66" y="964269"/>
            <a:ext cx="9584267" cy="567596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E0726924-D046-4A61-950D-BFACDA8FE401}"/>
              </a:ext>
            </a:extLst>
          </p:cNvPr>
          <p:cNvSpPr/>
          <p:nvPr/>
        </p:nvSpPr>
        <p:spPr>
          <a:xfrm>
            <a:off x="4343400" y="5130800"/>
            <a:ext cx="3064933" cy="3979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834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8681539C-041C-4C39-8950-1C5E9F846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40009"/>
            <a:ext cx="9943350" cy="5322570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CCAEF51E-D560-4397-81F3-4B13FF36988C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點選 </a:t>
            </a:r>
            <a:r>
              <a:rPr lang="en-US" altLang="zh-TW" sz="3200" dirty="0"/>
              <a:t>[</a:t>
            </a:r>
            <a:r>
              <a:rPr lang="zh-TW" altLang="en-US" sz="3200" dirty="0"/>
              <a:t>我的報告</a:t>
            </a:r>
            <a:r>
              <a:rPr lang="en-US" altLang="zh-TW" sz="3200" dirty="0"/>
              <a:t>]</a:t>
            </a:r>
            <a:endParaRPr lang="zh-TW" altLang="en-US" sz="32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DAB1B0-8FB3-46AF-B46A-D42B67C75031}"/>
              </a:ext>
            </a:extLst>
          </p:cNvPr>
          <p:cNvSpPr/>
          <p:nvPr/>
        </p:nvSpPr>
        <p:spPr>
          <a:xfrm>
            <a:off x="10010955" y="1423358"/>
            <a:ext cx="590909" cy="232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000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FBB85150-862B-4BD6-9A44-00B79B1C4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47" y="1690688"/>
            <a:ext cx="10688080" cy="3596146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D19A21AF-8592-42C5-9394-E5E3D2E017CB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找到自己的報告，並點選自己的名字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457E04-C7CD-490C-B1F9-BC06F7917A00}"/>
              </a:ext>
            </a:extLst>
          </p:cNvPr>
          <p:cNvSpPr/>
          <p:nvPr/>
        </p:nvSpPr>
        <p:spPr>
          <a:xfrm>
            <a:off x="3454880" y="3183147"/>
            <a:ext cx="2445588" cy="6728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8115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61029B9-809A-457A-A97A-169A46A01553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一開始會給予你模板，可以按照這個模板進行填寫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DD7603B-58CB-44F7-ADC6-20E518044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66" y="1086387"/>
            <a:ext cx="7833800" cy="55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758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6D3F385-3324-4881-99B8-E5FA7C8DA6BF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若想要新增專案區塊，可以點選 </a:t>
            </a:r>
            <a:r>
              <a:rPr lang="en-US" altLang="zh-TW" sz="3200" dirty="0"/>
              <a:t>[</a:t>
            </a:r>
            <a:r>
              <a:rPr lang="zh-TW" altLang="en-US" sz="3200" dirty="0"/>
              <a:t>插入</a:t>
            </a:r>
            <a:r>
              <a:rPr lang="en-US" altLang="zh-TW" sz="3200" dirty="0"/>
              <a:t>Product </a:t>
            </a:r>
            <a:r>
              <a:rPr lang="zh-TW" altLang="en-US" sz="3200" dirty="0"/>
              <a:t>區塊</a:t>
            </a:r>
            <a:r>
              <a:rPr lang="en-US" altLang="zh-TW" sz="3200" dirty="0"/>
              <a:t>]</a:t>
            </a:r>
            <a:r>
              <a:rPr lang="zh-TW" altLang="en-US" sz="3200" dirty="0"/>
              <a:t>，再針對你想要加入</a:t>
            </a:r>
            <a:r>
              <a:rPr lang="en-US" altLang="zh-TW" sz="3200" dirty="0"/>
              <a:t>/</a:t>
            </a:r>
            <a:r>
              <a:rPr lang="zh-TW" altLang="en-US" sz="3200" dirty="0"/>
              <a:t>刪除的專案，進行新增或移除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7A799C1-0029-4EE4-9C89-F550B4E4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338" y="1597868"/>
            <a:ext cx="3801236" cy="2483066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07994F09-1783-479C-B203-15EEE9809D58}"/>
              </a:ext>
            </a:extLst>
          </p:cNvPr>
          <p:cNvSpPr/>
          <p:nvPr/>
        </p:nvSpPr>
        <p:spPr>
          <a:xfrm>
            <a:off x="592668" y="2636201"/>
            <a:ext cx="507670" cy="2032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A9443AE-DCE8-4BCB-8BA4-8214F4A07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1" y="1496266"/>
            <a:ext cx="6493932" cy="45930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58C83D21-5FBE-4B49-BC00-08EBED35815B}"/>
              </a:ext>
            </a:extLst>
          </p:cNvPr>
          <p:cNvSpPr/>
          <p:nvPr/>
        </p:nvSpPr>
        <p:spPr>
          <a:xfrm>
            <a:off x="5579533" y="2636201"/>
            <a:ext cx="3200400" cy="33327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FB0E14-97A7-4BDE-9E40-D94BE059626B}"/>
              </a:ext>
            </a:extLst>
          </p:cNvPr>
          <p:cNvSpPr txBox="1"/>
          <p:nvPr/>
        </p:nvSpPr>
        <p:spPr>
          <a:xfrm>
            <a:off x="5486401" y="608928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長出這一塊內容</a:t>
            </a:r>
          </a:p>
        </p:txBody>
      </p:sp>
    </p:spTree>
    <p:extLst>
      <p:ext uri="{BB962C8B-B14F-4D97-AF65-F5344CB8AC3E}">
        <p14:creationId xmlns:p14="http://schemas.microsoft.com/office/powerpoint/2010/main" val="1029334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7E6FEAD-BD3F-41DC-8656-D04002624E22}"/>
              </a:ext>
            </a:extLst>
          </p:cNvPr>
          <p:cNvSpPr/>
          <p:nvPr/>
        </p:nvSpPr>
        <p:spPr>
          <a:xfrm>
            <a:off x="2637366" y="720522"/>
            <a:ext cx="6917267" cy="60170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100" dirty="0"/>
              <a:t>---</a:t>
            </a:r>
          </a:p>
          <a:p>
            <a:endParaRPr lang="zh-TW" altLang="en-US" sz="1100" dirty="0"/>
          </a:p>
          <a:p>
            <a:r>
              <a:rPr lang="zh-TW" altLang="en-US" sz="1100" dirty="0"/>
              <a:t>## 📦 Product：</a:t>
            </a:r>
            <a:r>
              <a:rPr lang="en-US" altLang="zh-TW" sz="1100" dirty="0" err="1"/>
              <a:t>DeviceOn</a:t>
            </a:r>
            <a:endParaRPr lang="zh-TW" altLang="en-US" sz="1100" dirty="0"/>
          </a:p>
          <a:p>
            <a:endParaRPr lang="en-US" altLang="zh-TW" sz="1100" dirty="0"/>
          </a:p>
          <a:p>
            <a:r>
              <a:rPr lang="en-US" altLang="zh-TW" sz="1100" dirty="0">
                <a:solidFill>
                  <a:srgbClr val="FF0000"/>
                </a:solidFill>
              </a:rPr>
              <a:t>&lt;!--</a:t>
            </a:r>
            <a:r>
              <a:rPr lang="en-US" altLang="zh-TW" sz="1100" b="1" dirty="0">
                <a:solidFill>
                  <a:srgbClr val="FF0000"/>
                </a:solidFill>
              </a:rPr>
              <a:t>Required</a:t>
            </a:r>
            <a:r>
              <a:rPr lang="en-US" altLang="zh-TW" sz="1100" dirty="0">
                <a:solidFill>
                  <a:srgbClr val="FF0000"/>
                </a:solidFill>
              </a:rPr>
              <a:t> </a:t>
            </a:r>
            <a:r>
              <a:rPr lang="zh-TW" altLang="en-US" sz="1100" dirty="0">
                <a:solidFill>
                  <a:srgbClr val="FF0000"/>
                </a:solidFill>
              </a:rPr>
              <a:t>請挑出主要的核心重點，至多</a:t>
            </a:r>
            <a:r>
              <a:rPr lang="en-US" altLang="zh-TW" sz="1100" dirty="0">
                <a:solidFill>
                  <a:srgbClr val="FF0000"/>
                </a:solidFill>
              </a:rPr>
              <a:t>5</a:t>
            </a:r>
            <a:r>
              <a:rPr lang="zh-TW" altLang="en-US" sz="1100" dirty="0">
                <a:solidFill>
                  <a:srgbClr val="FF0000"/>
                </a:solidFill>
              </a:rPr>
              <a:t>項，最高的貢獻擺越前面，超過部分 </a:t>
            </a:r>
            <a:r>
              <a:rPr lang="en-US" altLang="zh-TW" sz="1100" dirty="0">
                <a:solidFill>
                  <a:srgbClr val="FF0000"/>
                </a:solidFill>
              </a:rPr>
              <a:t>Presentation </a:t>
            </a:r>
            <a:r>
              <a:rPr lang="zh-TW" altLang="en-US" sz="1100" dirty="0">
                <a:solidFill>
                  <a:srgbClr val="FF0000"/>
                </a:solidFill>
              </a:rPr>
              <a:t>將不呈現 </a:t>
            </a:r>
            <a:r>
              <a:rPr lang="en-US" altLang="zh-TW" sz="1100" dirty="0">
                <a:solidFill>
                  <a:srgbClr val="FF0000"/>
                </a:solidFill>
              </a:rPr>
              <a:t>--&gt;</a:t>
            </a:r>
            <a:endParaRPr lang="zh-TW" altLang="en-US" sz="1100" dirty="0">
              <a:solidFill>
                <a:srgbClr val="FF0000"/>
              </a:solidFill>
            </a:endParaRPr>
          </a:p>
          <a:p>
            <a:r>
              <a:rPr lang="zh-TW" altLang="en-US" sz="1100" dirty="0"/>
              <a:t>### - 核心重點 (Key Highlights)</a:t>
            </a:r>
          </a:p>
          <a:p>
            <a:r>
              <a:rPr lang="zh-TW" altLang="en-US" sz="1100" b="1" dirty="0"/>
              <a:t>* **</a:t>
            </a:r>
            <a:r>
              <a:rPr lang="en-US" altLang="zh-TW" sz="1100" b="1" dirty="0"/>
              <a:t>1. [</a:t>
            </a:r>
            <a:r>
              <a:rPr lang="zh-TW" altLang="en-US" sz="1100" b="1" dirty="0"/>
              <a:t>功能</a:t>
            </a:r>
            <a:r>
              <a:rPr lang="en-US" altLang="zh-TW" sz="1100" b="1" dirty="0"/>
              <a:t>/</a:t>
            </a:r>
            <a:r>
              <a:rPr lang="zh-TW" altLang="en-US" sz="1100" b="1" dirty="0"/>
              <a:t>模組</a:t>
            </a:r>
            <a:r>
              <a:rPr lang="en-US" altLang="zh-TW" sz="1100" b="1" dirty="0"/>
              <a:t>]**</a:t>
            </a:r>
            <a:r>
              <a:rPr lang="zh-TW" altLang="en-US" sz="1100" dirty="0"/>
              <a:t>：完成支付 </a:t>
            </a:r>
            <a:r>
              <a:rPr lang="en-US" altLang="zh-TW" sz="1100" dirty="0"/>
              <a:t>API </a:t>
            </a:r>
            <a:r>
              <a:rPr lang="zh-TW" altLang="en-US" sz="1100" dirty="0"/>
              <a:t>重構，降低 </a:t>
            </a:r>
            <a:r>
              <a:rPr lang="en-US" altLang="zh-TW" sz="1100" dirty="0"/>
              <a:t>30% </a:t>
            </a:r>
            <a:r>
              <a:rPr lang="zh-TW" altLang="en-US" sz="1100" dirty="0"/>
              <a:t>延遲</a:t>
            </a:r>
          </a:p>
          <a:p>
            <a:r>
              <a:rPr lang="zh-TW" altLang="en-US" sz="1100" b="1" dirty="0"/>
              <a:t>* **</a:t>
            </a:r>
            <a:r>
              <a:rPr lang="en-US" altLang="zh-TW" sz="1100" b="1" dirty="0"/>
              <a:t>2. [</a:t>
            </a:r>
            <a:r>
              <a:rPr lang="zh-TW" altLang="en-US" sz="1100" b="1" dirty="0"/>
              <a:t>修復</a:t>
            </a:r>
            <a:r>
              <a:rPr lang="en-US" altLang="zh-TW" sz="1100" b="1" dirty="0"/>
              <a:t>/</a:t>
            </a:r>
            <a:r>
              <a:rPr lang="zh-TW" altLang="en-US" sz="1100" b="1" dirty="0"/>
              <a:t>優化</a:t>
            </a:r>
            <a:r>
              <a:rPr lang="en-US" altLang="zh-TW" sz="1100" b="1" dirty="0"/>
              <a:t>]**</a:t>
            </a:r>
            <a:r>
              <a:rPr lang="zh-TW" altLang="en-US" sz="1100" dirty="0"/>
              <a:t>：解決 </a:t>
            </a:r>
            <a:r>
              <a:rPr lang="en-US" altLang="zh-TW" sz="1100" dirty="0"/>
              <a:t>Deadlock </a:t>
            </a:r>
            <a:r>
              <a:rPr lang="zh-TW" altLang="en-US" sz="1100" dirty="0"/>
              <a:t>問題</a:t>
            </a:r>
          </a:p>
          <a:p>
            <a:r>
              <a:rPr lang="zh-TW" altLang="en-US" sz="1100" b="1" dirty="0"/>
              <a:t>* **</a:t>
            </a:r>
            <a:r>
              <a:rPr lang="en-US" altLang="zh-TW" sz="1100" b="1" dirty="0"/>
              <a:t>3. [</a:t>
            </a:r>
            <a:r>
              <a:rPr lang="zh-TW" altLang="en-US" sz="1100" b="1" dirty="0"/>
              <a:t>上線</a:t>
            </a:r>
            <a:r>
              <a:rPr lang="en-US" altLang="zh-TW" sz="1100" b="1" dirty="0"/>
              <a:t>]**</a:t>
            </a:r>
            <a:r>
              <a:rPr lang="zh-TW" altLang="en-US" sz="1100" dirty="0"/>
              <a:t>：</a:t>
            </a:r>
            <a:r>
              <a:rPr lang="en-US" altLang="zh-TW" sz="1100" dirty="0"/>
              <a:t>v2.1.0 </a:t>
            </a:r>
            <a:r>
              <a:rPr lang="zh-TW" altLang="en-US" sz="1100" dirty="0"/>
              <a:t>發布</a:t>
            </a:r>
          </a:p>
          <a:p>
            <a:endParaRPr lang="en-US" altLang="zh-TW" sz="1100" dirty="0"/>
          </a:p>
          <a:p>
            <a:r>
              <a:rPr lang="en-US" altLang="zh-TW" sz="1100" b="1" dirty="0">
                <a:solidFill>
                  <a:srgbClr val="FF0000"/>
                </a:solidFill>
              </a:rPr>
              <a:t>&lt;!—Options</a:t>
            </a:r>
            <a:r>
              <a:rPr lang="zh-TW" altLang="en-US" sz="1100" b="1" dirty="0">
                <a:solidFill>
                  <a:srgbClr val="FF0000"/>
                </a:solidFill>
              </a:rPr>
              <a:t> </a:t>
            </a:r>
            <a:r>
              <a:rPr lang="zh-TW" altLang="en-US" sz="1100" dirty="0">
                <a:solidFill>
                  <a:srgbClr val="FF0000"/>
                </a:solidFill>
              </a:rPr>
              <a:t>為什麼需要做 </a:t>
            </a:r>
            <a:r>
              <a:rPr lang="en-US" altLang="zh-TW" sz="1100" b="1" dirty="0">
                <a:solidFill>
                  <a:srgbClr val="FF0000"/>
                </a:solidFill>
              </a:rPr>
              <a:t>--&gt;</a:t>
            </a:r>
            <a:endParaRPr lang="zh-TW" altLang="en-US" sz="1100" b="1" dirty="0">
              <a:solidFill>
                <a:srgbClr val="FF0000"/>
              </a:solidFill>
            </a:endParaRPr>
          </a:p>
          <a:p>
            <a:r>
              <a:rPr lang="zh-TW" altLang="en-US" sz="1100" dirty="0"/>
              <a:t>### - 項目的補充說明 </a:t>
            </a:r>
            <a:endParaRPr lang="en-US" altLang="zh-TW" sz="1100" dirty="0"/>
          </a:p>
          <a:p>
            <a:r>
              <a:rPr lang="zh-TW" altLang="en-US" sz="1100" dirty="0"/>
              <a:t>&lt;div class="card"&gt;</a:t>
            </a:r>
          </a:p>
          <a:p>
            <a:r>
              <a:rPr lang="zh-TW" altLang="en-US" sz="1100" b="1" dirty="0"/>
              <a:t>* **背景</a:t>
            </a:r>
            <a:r>
              <a:rPr lang="en-US" altLang="zh-TW" sz="1100" b="1" dirty="0"/>
              <a:t>/</a:t>
            </a:r>
            <a:r>
              <a:rPr lang="zh-TW" altLang="en-US" sz="1100" b="1" dirty="0"/>
              <a:t>痛點**</a:t>
            </a:r>
            <a:r>
              <a:rPr lang="zh-TW" altLang="en-US" sz="1100" dirty="0"/>
              <a:t>：為了符合歐盟 </a:t>
            </a:r>
            <a:r>
              <a:rPr lang="en-US" altLang="zh-TW" sz="1100" dirty="0"/>
              <a:t>CRA </a:t>
            </a:r>
            <a:r>
              <a:rPr lang="zh-TW" altLang="en-US" sz="1100" dirty="0"/>
              <a:t>規範，</a:t>
            </a:r>
            <a:r>
              <a:rPr lang="en-US" altLang="zh-TW" sz="1100" dirty="0" err="1"/>
              <a:t>DeviceOn</a:t>
            </a:r>
            <a:r>
              <a:rPr lang="en-US" altLang="zh-TW" sz="1100" dirty="0"/>
              <a:t> </a:t>
            </a:r>
            <a:r>
              <a:rPr lang="zh-TW" altLang="en-US" sz="1100" dirty="0"/>
              <a:t>必須將 </a:t>
            </a:r>
            <a:r>
              <a:rPr lang="en-US" altLang="zh-TW" sz="1100" dirty="0"/>
              <a:t>JDK </a:t>
            </a:r>
            <a:r>
              <a:rPr lang="zh-TW" altLang="en-US" sz="1100" dirty="0"/>
              <a:t>升級至 </a:t>
            </a:r>
            <a:r>
              <a:rPr lang="en-US" altLang="zh-TW" sz="1100" dirty="0"/>
              <a:t>17</a:t>
            </a:r>
            <a:r>
              <a:rPr lang="zh-TW" altLang="en-US" sz="1100" dirty="0"/>
              <a:t>，生成 </a:t>
            </a:r>
            <a:r>
              <a:rPr lang="en-US" altLang="zh-TW" sz="1100" dirty="0"/>
              <a:t>SBOM </a:t>
            </a:r>
            <a:r>
              <a:rPr lang="zh-TW" altLang="en-US" sz="1100" dirty="0"/>
              <a:t>並進行 </a:t>
            </a:r>
            <a:r>
              <a:rPr lang="en-US" altLang="zh-TW" sz="1100" dirty="0"/>
              <a:t>CVE </a:t>
            </a:r>
            <a:r>
              <a:rPr lang="zh-TW" altLang="en-US" sz="1100" dirty="0"/>
              <a:t>漏洞比對與修復。</a:t>
            </a:r>
          </a:p>
          <a:p>
            <a:r>
              <a:rPr lang="zh-TW" altLang="en-US" sz="1100" b="1" dirty="0"/>
              <a:t>* **價值**</a:t>
            </a:r>
            <a:r>
              <a:rPr lang="zh-TW" altLang="en-US" sz="1100" dirty="0"/>
              <a:t>：提升軟體安全性，符合 </a:t>
            </a:r>
            <a:r>
              <a:rPr lang="en-US" altLang="zh-TW" sz="1100" dirty="0"/>
              <a:t>CRA </a:t>
            </a:r>
            <a:r>
              <a:rPr lang="zh-TW" altLang="en-US" sz="1100" dirty="0"/>
              <a:t>需求</a:t>
            </a:r>
          </a:p>
          <a:p>
            <a:r>
              <a:rPr lang="zh-TW" altLang="en-US" sz="1100" dirty="0"/>
              <a:t>&lt;/div&gt;</a:t>
            </a:r>
          </a:p>
          <a:p>
            <a:endParaRPr lang="en-US" altLang="zh-TW" sz="1100" dirty="0"/>
          </a:p>
          <a:p>
            <a:r>
              <a:rPr lang="en-US" altLang="zh-TW" sz="1100" b="1" dirty="0">
                <a:solidFill>
                  <a:srgbClr val="FF0000"/>
                </a:solidFill>
              </a:rPr>
              <a:t>&lt;!--Options --&gt;</a:t>
            </a:r>
            <a:endParaRPr lang="zh-TW" altLang="en-US" sz="1100" b="1" dirty="0">
              <a:solidFill>
                <a:srgbClr val="FF0000"/>
              </a:solidFill>
            </a:endParaRPr>
          </a:p>
          <a:p>
            <a:r>
              <a:rPr lang="zh-TW" altLang="en-US" sz="1100" dirty="0"/>
              <a:t>### - 下週計畫 (Ongoing/Todo)</a:t>
            </a:r>
          </a:p>
          <a:p>
            <a:r>
              <a:rPr lang="en-US" altLang="zh-TW" sz="1100" b="1" dirty="0"/>
              <a:t>- </a:t>
            </a:r>
            <a:r>
              <a:rPr lang="en-US" altLang="zh-TW" sz="1100" dirty="0"/>
              <a:t>[ ] </a:t>
            </a:r>
            <a:r>
              <a:rPr lang="zh-TW" altLang="en-US" sz="1100" dirty="0"/>
              <a:t>第三方金流串接（預計 </a:t>
            </a:r>
            <a:r>
              <a:rPr lang="en-US" altLang="zh-TW" sz="1100" dirty="0"/>
              <a:t>8/15</a:t>
            </a:r>
            <a:r>
              <a:rPr lang="zh-TW" altLang="en-US" sz="1100" dirty="0"/>
              <a:t>）</a:t>
            </a:r>
          </a:p>
          <a:p>
            <a:r>
              <a:rPr lang="en-US" altLang="zh-TW" sz="1100" b="1" dirty="0"/>
              <a:t>- </a:t>
            </a:r>
            <a:r>
              <a:rPr lang="en-US" altLang="zh-TW" sz="1100" dirty="0"/>
              <a:t>[ ] </a:t>
            </a:r>
            <a:r>
              <a:rPr lang="zh-TW" altLang="en-US" sz="1100" dirty="0"/>
              <a:t>撰寫效能測試報告</a:t>
            </a:r>
          </a:p>
          <a:p>
            <a:endParaRPr lang="en-US" altLang="zh-TW" sz="1100" dirty="0"/>
          </a:p>
          <a:p>
            <a:r>
              <a:rPr lang="en-US" altLang="zh-TW" sz="1100" b="1" dirty="0">
                <a:solidFill>
                  <a:srgbClr val="FF0000"/>
                </a:solidFill>
              </a:rPr>
              <a:t>&lt;!--Options --&gt;</a:t>
            </a:r>
            <a:endParaRPr lang="zh-TW" altLang="en-US" sz="1100" dirty="0"/>
          </a:p>
          <a:p>
            <a:r>
              <a:rPr lang="zh-TW" altLang="en-US" sz="1100" dirty="0"/>
              <a:t>### - 🔥 討論 / 阻礙 (非技術層面, 跨組織/跨資源)</a:t>
            </a:r>
          </a:p>
          <a:p>
            <a:r>
              <a:rPr lang="zh-TW" altLang="en-US" sz="1100" dirty="0"/>
              <a:t>&lt;div class="card warning"&gt;</a:t>
            </a:r>
          </a:p>
          <a:p>
            <a:r>
              <a:rPr lang="zh-TW" altLang="en-US" sz="1100" b="1" dirty="0"/>
              <a:t>* **阻礙**</a:t>
            </a:r>
            <a:r>
              <a:rPr lang="zh-TW" altLang="en-US" sz="1100" dirty="0"/>
              <a:t>：需要 </a:t>
            </a:r>
            <a:r>
              <a:rPr lang="en-US" altLang="zh-TW" sz="1100" dirty="0"/>
              <a:t>DBA </a:t>
            </a:r>
            <a:r>
              <a:rPr lang="zh-TW" altLang="en-US" sz="1100" dirty="0"/>
              <a:t>協助 </a:t>
            </a:r>
            <a:r>
              <a:rPr lang="en-US" altLang="zh-TW" sz="1100" dirty="0"/>
              <a:t>Prod </a:t>
            </a:r>
            <a:r>
              <a:rPr lang="zh-TW" altLang="en-US" sz="1100" dirty="0"/>
              <a:t>唯讀權限</a:t>
            </a:r>
          </a:p>
          <a:p>
            <a:r>
              <a:rPr lang="zh-TW" altLang="en-US" sz="1100" dirty="0"/>
              <a:t>&lt;/div&gt;</a:t>
            </a:r>
          </a:p>
          <a:p>
            <a:endParaRPr lang="zh-TW" altLang="en-US" sz="1100" dirty="0"/>
          </a:p>
          <a:p>
            <a:r>
              <a:rPr lang="zh-TW" altLang="en-US" sz="1100" dirty="0"/>
              <a:t>### - 🔗 相關連結/附件</a:t>
            </a:r>
          </a:p>
          <a:p>
            <a:r>
              <a:rPr lang="zh-TW" altLang="en-US" sz="1100" dirty="0"/>
              <a:t>&lt;div class="kms-link"&gt;</a:t>
            </a:r>
          </a:p>
          <a:p>
            <a:r>
              <a:rPr lang="en-US" altLang="zh-TW" sz="1100" dirty="0"/>
              <a:t>* [</a:t>
            </a:r>
            <a:r>
              <a:rPr lang="en-US" altLang="zh-TW" sz="1100" dirty="0" err="1"/>
              <a:t>DeviceOn</a:t>
            </a:r>
            <a:r>
              <a:rPr lang="en-US" altLang="zh-TW" sz="1100" dirty="0"/>
              <a:t> Observability Dashboard v1](https://example.com/deviceon/observability-dashboard-v1)</a:t>
            </a:r>
          </a:p>
          <a:p>
            <a:r>
              <a:rPr lang="zh-TW" altLang="en-US" sz="1100" dirty="0"/>
              <a:t>&lt;/div&gt;</a:t>
            </a:r>
          </a:p>
          <a:p>
            <a:endParaRPr lang="zh-TW" altLang="en-US" sz="1100" dirty="0"/>
          </a:p>
          <a:p>
            <a:r>
              <a:rPr lang="zh-TW" altLang="en-US" sz="1100" dirty="0"/>
              <a:t>---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08BDD3C-CCA1-4249-9A7E-8CD25AE7C62F}"/>
              </a:ext>
            </a:extLst>
          </p:cNvPr>
          <p:cNvSpPr/>
          <p:nvPr/>
        </p:nvSpPr>
        <p:spPr>
          <a:xfrm>
            <a:off x="3849230" y="120446"/>
            <a:ext cx="44935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dirty="0"/>
              <a:t>請參考下方的範例模板進行填寫</a:t>
            </a:r>
          </a:p>
        </p:txBody>
      </p:sp>
    </p:spTree>
    <p:extLst>
      <p:ext uri="{BB962C8B-B14F-4D97-AF65-F5344CB8AC3E}">
        <p14:creationId xmlns:p14="http://schemas.microsoft.com/office/powerpoint/2010/main" val="1371805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F2A1FBD-2DB6-4927-9CF0-4D3E6ADFF6AC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報告撰寫完畢後，記得點選 </a:t>
            </a:r>
            <a:r>
              <a:rPr lang="en-US" altLang="zh-TW" sz="3200" dirty="0"/>
              <a:t>[</a:t>
            </a:r>
            <a:r>
              <a:rPr lang="zh-TW" altLang="en-US" sz="3200" dirty="0"/>
              <a:t>儲存</a:t>
            </a:r>
            <a:r>
              <a:rPr lang="en-US" altLang="zh-TW" sz="3200" dirty="0"/>
              <a:t>]</a:t>
            </a:r>
            <a:r>
              <a:rPr lang="zh-TW" altLang="en-US" sz="3200" dirty="0"/>
              <a:t> 與 </a:t>
            </a:r>
            <a:r>
              <a:rPr lang="en-US" altLang="zh-TW" sz="3200" dirty="0"/>
              <a:t>[AI</a:t>
            </a:r>
            <a:r>
              <a:rPr lang="zh-TW" altLang="en-US" sz="3200" dirty="0"/>
              <a:t> </a:t>
            </a:r>
            <a:r>
              <a:rPr lang="en-US" altLang="zh-TW" sz="3200" dirty="0"/>
              <a:t>Refactor</a:t>
            </a:r>
            <a:r>
              <a:rPr lang="zh-TW" altLang="en-US" sz="3200" dirty="0"/>
              <a:t>與分發專案</a:t>
            </a:r>
            <a:r>
              <a:rPr lang="en-US" altLang="zh-TW" sz="3200" dirty="0"/>
              <a:t>]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BF2767-4487-48BF-96C9-707EBC634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407" y="1469337"/>
            <a:ext cx="4191585" cy="1162212"/>
          </a:xfrm>
          <a:prstGeom prst="rect">
            <a:avLst/>
          </a:prstGeom>
        </p:spPr>
      </p:pic>
      <p:sp>
        <p:nvSpPr>
          <p:cNvPr id="6" name="箭號: 向右 5">
            <a:extLst>
              <a:ext uri="{FF2B5EF4-FFF2-40B4-BE49-F238E27FC236}">
                <a16:creationId xmlns:a16="http://schemas.microsoft.com/office/drawing/2014/main" id="{2A25499B-2198-4CC9-ADF1-2AE66ADE2616}"/>
              </a:ext>
            </a:extLst>
          </p:cNvPr>
          <p:cNvSpPr/>
          <p:nvPr/>
        </p:nvSpPr>
        <p:spPr>
          <a:xfrm rot="5400000">
            <a:off x="5243568" y="2013713"/>
            <a:ext cx="273836" cy="19489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D7C2140A-E647-4CF3-9BCE-41B8FCDCD1DF}"/>
              </a:ext>
            </a:extLst>
          </p:cNvPr>
          <p:cNvSpPr/>
          <p:nvPr/>
        </p:nvSpPr>
        <p:spPr>
          <a:xfrm rot="5400000">
            <a:off x="6615168" y="2013713"/>
            <a:ext cx="273836" cy="19489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F1390D5-154F-4249-9B97-E73D26AB4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684" y="3541720"/>
            <a:ext cx="9604500" cy="194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124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B01D773-9F8D-4FAD-9AB7-0DC083742D87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分發完畢後，可以到 </a:t>
            </a:r>
            <a:r>
              <a:rPr lang="en-US" altLang="zh-TW" sz="3200" dirty="0"/>
              <a:t>[</a:t>
            </a:r>
            <a:r>
              <a:rPr lang="zh-TW" altLang="en-US" sz="3200" dirty="0"/>
              <a:t>專案列表</a:t>
            </a:r>
            <a:r>
              <a:rPr lang="en-US" altLang="zh-TW" sz="3200" dirty="0"/>
              <a:t>]</a:t>
            </a:r>
            <a:r>
              <a:rPr lang="zh-TW" altLang="en-US" sz="3200" dirty="0"/>
              <a:t> 的個別專案，進行審閱</a:t>
            </a:r>
            <a:endParaRPr lang="en-US" altLang="zh-TW" sz="32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0CC16E4-45DF-484E-A6A1-7EE8A8EAC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799" y="1078696"/>
            <a:ext cx="9525001" cy="506392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1505E80-F1E8-4E8D-AC24-F772010C6251}"/>
              </a:ext>
            </a:extLst>
          </p:cNvPr>
          <p:cNvSpPr/>
          <p:nvPr/>
        </p:nvSpPr>
        <p:spPr>
          <a:xfrm>
            <a:off x="9296399" y="1154535"/>
            <a:ext cx="550334" cy="2424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下 6">
            <a:extLst>
              <a:ext uri="{FF2B5EF4-FFF2-40B4-BE49-F238E27FC236}">
                <a16:creationId xmlns:a16="http://schemas.microsoft.com/office/drawing/2014/main" id="{FD486537-644A-4482-8AA0-6EFBDB75BF54}"/>
              </a:ext>
            </a:extLst>
          </p:cNvPr>
          <p:cNvSpPr/>
          <p:nvPr/>
        </p:nvSpPr>
        <p:spPr>
          <a:xfrm>
            <a:off x="2523067" y="1769533"/>
            <a:ext cx="330200" cy="49953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5542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AB952F4-5FD0-4B52-9FF2-81C4475F1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92" y="1799828"/>
            <a:ext cx="10349215" cy="3984283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035B47F1-8B2B-4D2B-9375-819B236628FE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進入專案後，點選團隊成員的報告</a:t>
            </a:r>
            <a:endParaRPr lang="en-US" altLang="zh-TW" sz="3200" dirty="0"/>
          </a:p>
        </p:txBody>
      </p:sp>
      <p:sp>
        <p:nvSpPr>
          <p:cNvPr id="7" name="箭號: 向下 6">
            <a:extLst>
              <a:ext uri="{FF2B5EF4-FFF2-40B4-BE49-F238E27FC236}">
                <a16:creationId xmlns:a16="http://schemas.microsoft.com/office/drawing/2014/main" id="{972976CE-5E01-4FB5-A30F-AE0E3FA4D25E}"/>
              </a:ext>
            </a:extLst>
          </p:cNvPr>
          <p:cNvSpPr/>
          <p:nvPr/>
        </p:nvSpPr>
        <p:spPr>
          <a:xfrm rot="16200000">
            <a:off x="563034" y="5054600"/>
            <a:ext cx="330200" cy="49953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7474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7020F0-76E3-4DA9-B093-FF3A60F48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4CADCB-D2FA-49EA-AE9B-3D91247BF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00AFE03-09DF-4095-83AB-B9ECDFF4B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3657"/>
            <a:ext cx="12192000" cy="573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0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070062-35BC-419E-8752-9DCC4D89E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7503D-4F69-403F-B017-4D09B0BF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056E22A-4A04-4E48-A374-B02F9B672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951"/>
            <a:ext cx="12192000" cy="575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52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06DB087F-9257-4A72-9D87-9BE9D812A410}"/>
              </a:ext>
            </a:extLst>
          </p:cNvPr>
          <p:cNvSpPr txBox="1">
            <a:spLocks/>
          </p:cNvSpPr>
          <p:nvPr/>
        </p:nvSpPr>
        <p:spPr>
          <a:xfrm>
            <a:off x="728134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dirty="0"/>
              <a:t>如果覺得報告的內容還需要修改，可以點選 </a:t>
            </a:r>
            <a:r>
              <a:rPr lang="en-US" altLang="zh-TW" sz="3200" dirty="0"/>
              <a:t>[</a:t>
            </a:r>
            <a:r>
              <a:rPr lang="zh-TW" altLang="en-US" sz="3200" dirty="0"/>
              <a:t>編輯內容</a:t>
            </a:r>
            <a:r>
              <a:rPr lang="en-US" altLang="zh-TW" sz="3200" dirty="0"/>
              <a:t>]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BB1CD79-9C2D-4BBE-9FEE-366D53044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33" y="1490626"/>
            <a:ext cx="3096057" cy="523948"/>
          </a:xfrm>
          <a:prstGeom prst="rect">
            <a:avLst/>
          </a:prstGeom>
        </p:spPr>
      </p:pic>
      <p:sp>
        <p:nvSpPr>
          <p:cNvPr id="6" name="箭號: 向下 5">
            <a:extLst>
              <a:ext uri="{FF2B5EF4-FFF2-40B4-BE49-F238E27FC236}">
                <a16:creationId xmlns:a16="http://schemas.microsoft.com/office/drawing/2014/main" id="{AFA1F0A6-26BE-4138-8915-EA999276A499}"/>
              </a:ext>
            </a:extLst>
          </p:cNvPr>
          <p:cNvSpPr/>
          <p:nvPr/>
        </p:nvSpPr>
        <p:spPr>
          <a:xfrm>
            <a:off x="2044700" y="1075796"/>
            <a:ext cx="330200" cy="49953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ABC7BCA-39CB-4331-A9E4-0F8082BA0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1466" y="1075796"/>
            <a:ext cx="7904772" cy="52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314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</TotalTime>
  <Words>439</Words>
  <Application>Microsoft Office PowerPoint</Application>
  <PresentationFormat>寬螢幕</PresentationFormat>
  <Paragraphs>47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Office 佈景主題</vt:lpstr>
      <vt:lpstr>SyncBoard 使用說明文件</vt:lpstr>
      <vt:lpstr>選擇 [會議日期] 後點選 [前往]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SyncBoard 使用說明文件</dc:title>
  <dc:creator>Fabian.Chung</dc:creator>
  <cp:lastModifiedBy>Fabian.Chung</cp:lastModifiedBy>
  <cp:revision>8</cp:revision>
  <dcterms:created xsi:type="dcterms:W3CDTF">2026-08-12T08:50:49Z</dcterms:created>
  <dcterms:modified xsi:type="dcterms:W3CDTF">2026-08-13T01:31:05Z</dcterms:modified>
</cp:coreProperties>
</file>