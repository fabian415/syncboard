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3" r:id="rId17"/>
    <p:sldId id="280" r:id="rId18"/>
    <p:sldId id="274" r:id="rId19"/>
    <p:sldId id="272" r:id="rId20"/>
    <p:sldId id="275" r:id="rId21"/>
    <p:sldId id="277" r:id="rId22"/>
    <p:sldId id="281" r:id="rId23"/>
    <p:sldId id="278" r:id="rId24"/>
    <p:sldId id="276" r:id="rId25"/>
    <p:sldId id="279" r:id="rId26"/>
    <p:sldId id="282" r:id="rId27"/>
    <p:sldId id="285" r:id="rId28"/>
    <p:sldId id="284" r:id="rId2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5B26B4-786A-4C21-875B-8D36004C07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BA990D4-A963-4188-BA3A-CD1B6415C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2B9F4ED-5AF8-4E86-81C8-BB53074EA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B231-F13C-44D7-87DA-8AED873F6DD1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0C8C6D-0A89-4215-BE50-0CD4DB62C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48D28E1-79EA-465A-BA0F-4DB45DF0E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F50F3-5D2B-4C8B-BA23-0230A475B1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7358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C871C8-C223-4DC5-ABBB-0674E7917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1D0CB1-669D-4E5E-8C4E-EFF5FDA90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6813B40-E0D9-45C4-99DA-DE77CBC6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B231-F13C-44D7-87DA-8AED873F6DD1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6E79D6C-C71F-4376-BCC0-CBDE6F652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358C63-A2F8-4765-9AF6-3F806C0E0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F50F3-5D2B-4C8B-BA23-0230A475B1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2411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90DC38-AF51-4E33-95FB-EF163AC6E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7ADE35E-FA25-4BF5-86E4-98568646A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AB1FB78-1BAB-457B-92BD-3FAC282B5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B231-F13C-44D7-87DA-8AED873F6DD1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8D37C0-D306-4FF7-AC86-DDB11A012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C221A1F-6B62-400D-949C-03322347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F50F3-5D2B-4C8B-BA23-0230A475B1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2870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D7BA38-2050-4016-823A-3A951C423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93E8005-A157-449F-9393-61042035F0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B69065C-18AC-48DF-82D4-82C242AFD0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E97C30E-92B7-4A58-8483-ED066ABCC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B231-F13C-44D7-87DA-8AED873F6DD1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1DD1221-79F2-4DAD-A9C8-ADD584748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A5AD48B-E949-41C2-AA0C-A848143C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F50F3-5D2B-4C8B-BA23-0230A475B1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1548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D83AC6-427D-449D-9E96-FF3C9540B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3C741D2-C5A5-4FA2-890E-C65C88BEC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0610730-1B12-4066-BC83-97BA7EDFB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C3C4B94-509B-4CEF-9EE5-19882FA0AB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0A5B97B-E3F2-45CC-99E5-ACB100A97A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05844AA-DE49-4500-A635-D23D89981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B231-F13C-44D7-87DA-8AED873F6DD1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9814BB1-37EF-4593-ACB5-C4469725A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D282CAB-1CD3-478E-965B-CEC8AC767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F50F3-5D2B-4C8B-BA23-0230A475B1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8105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1F815F-35DC-4124-AAA1-DE6DE47D1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0F4356D-70E2-4E50-8032-4C258A35C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B231-F13C-44D7-87DA-8AED873F6DD1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DE89519-7ED6-4825-838A-544ED2EE4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E297DB9-375A-4162-843E-665D430FF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F50F3-5D2B-4C8B-BA23-0230A475B1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9834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C0F6719-D5E9-405D-B897-F790E311C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B231-F13C-44D7-87DA-8AED873F6DD1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88579E4-7995-46A4-B57F-202A4A984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F263BB0-8186-4CC5-AB11-6F22FED1A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F50F3-5D2B-4C8B-BA23-0230A475B1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0591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2E4AAC-760E-4697-91DC-4B5EEDD38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E53C6C-00CD-42F3-88A0-8B7EA9795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ED174A3-DF0D-4999-A18D-8013C9D25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DCB1538-9809-41DB-ADB7-C1F6AF5B2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B231-F13C-44D7-87DA-8AED873F6DD1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3B00228-F88C-4CE3-A524-EBBE7CE11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FAD5A09-0B9C-4818-9048-E0BAB02F7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F50F3-5D2B-4C8B-BA23-0230A475B1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334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FAFFE3-2B83-46DF-A620-43F2DD5A7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845CDDE-9712-44CD-9529-08720A4C09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3A9E3C5-6E6E-4DCB-9FFC-66E29C579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A3409D7-D15F-4E5E-A5EB-F2C6384B9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B231-F13C-44D7-87DA-8AED873F6DD1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56AB643-D5F6-48BA-99D7-4FD0C0FEB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3470F20-811E-4202-821F-B8673CD07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F50F3-5D2B-4C8B-BA23-0230A475B1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9042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978BDF-24F9-4FDD-B289-395DD0660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C7FCD92-A0F1-4030-9FB8-651821906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B61715B-828F-4C28-87A1-BE2888F1E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B231-F13C-44D7-87DA-8AED873F6DD1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DD27702-B912-4E52-A0EE-49D21DCAF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B7D17F6-F0B4-492C-B8B9-CA1F2CB45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F50F3-5D2B-4C8B-BA23-0230A475B1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2749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0763734-995B-46E2-BB62-D7040232A5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7CDE35C-F380-4D11-941A-A39EEEE7D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89AA58F-3DE4-4630-B45C-AFAA12435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DB231-F13C-44D7-87DA-8AED873F6DD1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744CDF7-C8A3-4787-A377-D539FD2F8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FF697A-2CCA-4E64-AFE8-949D2B289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F50F3-5D2B-4C8B-BA23-0230A475B1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4604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A7399BD-4662-48F7-9AC6-59734CC33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843F487-8B69-4161-93F3-9BBBBB8A6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943B5C2-D977-42A0-AFAB-BEDB949B96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CDB231-F13C-44D7-87DA-8AED873F6DD1}" type="datetimeFigureOut">
              <a:rPr lang="zh-TW" altLang="en-US" smtClean="0"/>
              <a:t>2026/8/17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E13AB79-3970-4722-A3FD-C627D5BAFB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AB69D6-621C-4004-9884-2EEB5CFB36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F50F3-5D2B-4C8B-BA23-0230A475B1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4068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7F6D52-10DE-4E73-B663-855A72994D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4800" b="1" dirty="0" err="1"/>
              <a:t>SyncBoard</a:t>
            </a:r>
            <a:r>
              <a:rPr lang="zh-TW" altLang="en-US" sz="4800" b="1" dirty="0"/>
              <a:t> 使用說明文件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D32A6A5-5335-41E0-937E-5839C31919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 dirty="0" err="1"/>
              <a:t>DeviceOn</a:t>
            </a:r>
            <a:r>
              <a:rPr lang="en-US" altLang="zh-TW" dirty="0"/>
              <a:t> Team: Fabian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94731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1AA2B3-1A83-4C27-9008-7F1AD6B1A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61378"/>
            <a:ext cx="10515600" cy="1325563"/>
          </a:xfrm>
        </p:spPr>
        <p:txBody>
          <a:bodyPr/>
          <a:lstStyle/>
          <a:p>
            <a:r>
              <a:rPr lang="zh-TW" altLang="en-US" b="1" dirty="0"/>
              <a:t>個人報告上傳</a:t>
            </a:r>
          </a:p>
        </p:txBody>
      </p:sp>
    </p:spTree>
    <p:extLst>
      <p:ext uri="{BB962C8B-B14F-4D97-AF65-F5344CB8AC3E}">
        <p14:creationId xmlns:p14="http://schemas.microsoft.com/office/powerpoint/2010/main" val="4063823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1D5D0C-82CE-436F-BFD6-9646E0EDD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134" y="0"/>
            <a:ext cx="10515600" cy="1325563"/>
          </a:xfrm>
        </p:spPr>
        <p:txBody>
          <a:bodyPr>
            <a:normAutofit/>
          </a:bodyPr>
          <a:lstStyle/>
          <a:p>
            <a:r>
              <a:rPr lang="zh-TW" altLang="en-US" sz="3200" dirty="0"/>
              <a:t>選擇 </a:t>
            </a:r>
            <a:r>
              <a:rPr lang="en-US" altLang="zh-TW" sz="3200" dirty="0"/>
              <a:t>[</a:t>
            </a:r>
            <a:r>
              <a:rPr lang="zh-TW" altLang="en-US" sz="3200" dirty="0"/>
              <a:t>會議日期</a:t>
            </a:r>
            <a:r>
              <a:rPr lang="en-US" altLang="zh-TW" sz="3200" dirty="0"/>
              <a:t>]</a:t>
            </a:r>
            <a:r>
              <a:rPr lang="zh-TW" altLang="en-US" sz="3200" dirty="0"/>
              <a:t> 後點選 </a:t>
            </a:r>
            <a:r>
              <a:rPr lang="en-US" altLang="zh-TW" sz="3200" dirty="0"/>
              <a:t>[</a:t>
            </a:r>
            <a:r>
              <a:rPr lang="zh-TW" altLang="en-US" sz="3200" dirty="0"/>
              <a:t>前往</a:t>
            </a:r>
            <a:r>
              <a:rPr lang="en-US" altLang="zh-TW" sz="3200" dirty="0"/>
              <a:t>]</a:t>
            </a:r>
            <a:endParaRPr lang="zh-TW" altLang="en-US" sz="32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7C59DB8-9D26-4BBC-80DD-604960D9A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266" y="964269"/>
            <a:ext cx="9584267" cy="567596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0726924-D046-4A61-950D-BFACDA8FE401}"/>
              </a:ext>
            </a:extLst>
          </p:cNvPr>
          <p:cNvSpPr/>
          <p:nvPr/>
        </p:nvSpPr>
        <p:spPr>
          <a:xfrm>
            <a:off x="4343400" y="5130800"/>
            <a:ext cx="3064933" cy="3979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0834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CCAEF51E-D560-4397-81F3-4B13FF36988C}"/>
              </a:ext>
            </a:extLst>
          </p:cNvPr>
          <p:cNvSpPr txBox="1">
            <a:spLocks/>
          </p:cNvSpPr>
          <p:nvPr/>
        </p:nvSpPr>
        <p:spPr>
          <a:xfrm>
            <a:off x="728134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/>
              <a:t>點選 </a:t>
            </a:r>
            <a:r>
              <a:rPr lang="en-US" altLang="zh-TW" sz="3200" dirty="0"/>
              <a:t>[</a:t>
            </a:r>
            <a:r>
              <a:rPr lang="zh-TW" altLang="en-US" sz="3200" dirty="0"/>
              <a:t>個人報告上傳</a:t>
            </a:r>
            <a:r>
              <a:rPr lang="en-US" altLang="zh-TW" sz="3200" dirty="0"/>
              <a:t>]</a:t>
            </a:r>
            <a:endParaRPr lang="zh-TW" altLang="en-US" sz="3200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F35EB3A5-8E03-485A-B5CD-DDA5F3706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70" y="1490392"/>
            <a:ext cx="11888859" cy="387721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1DAB1B0-8FB3-46AF-B46A-D42B67C75031}"/>
              </a:ext>
            </a:extLst>
          </p:cNvPr>
          <p:cNvSpPr/>
          <p:nvPr/>
        </p:nvSpPr>
        <p:spPr>
          <a:xfrm>
            <a:off x="10864492" y="1638654"/>
            <a:ext cx="1056575" cy="2409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0006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16370932-BEE2-4960-967E-7CDA075A6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70" y="1490392"/>
            <a:ext cx="11888859" cy="3877216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D19A21AF-8592-42C5-9394-E5E3D2E017CB}"/>
              </a:ext>
            </a:extLst>
          </p:cNvPr>
          <p:cNvSpPr txBox="1">
            <a:spLocks/>
          </p:cNvSpPr>
          <p:nvPr/>
        </p:nvSpPr>
        <p:spPr>
          <a:xfrm>
            <a:off x="728134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/>
              <a:t>找到自己的報告，並點選自己的名字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E457E04-C7CD-490C-B1F9-BC06F7917A00}"/>
              </a:ext>
            </a:extLst>
          </p:cNvPr>
          <p:cNvSpPr/>
          <p:nvPr/>
        </p:nvSpPr>
        <p:spPr>
          <a:xfrm>
            <a:off x="3251199" y="3183147"/>
            <a:ext cx="2760133" cy="787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8115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66D3F385-3324-4881-99B8-E5FA7C8DA6BF}"/>
              </a:ext>
            </a:extLst>
          </p:cNvPr>
          <p:cNvSpPr txBox="1">
            <a:spLocks/>
          </p:cNvSpPr>
          <p:nvPr/>
        </p:nvSpPr>
        <p:spPr>
          <a:xfrm>
            <a:off x="728134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/>
              <a:t>點選 </a:t>
            </a:r>
            <a:r>
              <a:rPr lang="en-US" altLang="zh-TW" sz="3200" dirty="0"/>
              <a:t>[</a:t>
            </a:r>
            <a:r>
              <a:rPr lang="zh-TW" altLang="en-US" sz="3200" dirty="0"/>
              <a:t>插入</a:t>
            </a:r>
            <a:r>
              <a:rPr lang="en-US" altLang="zh-TW" sz="3200" dirty="0"/>
              <a:t>Product </a:t>
            </a:r>
            <a:r>
              <a:rPr lang="zh-TW" altLang="en-US" sz="3200" dirty="0"/>
              <a:t>區塊</a:t>
            </a:r>
            <a:r>
              <a:rPr lang="en-US" altLang="zh-TW" sz="3200" dirty="0"/>
              <a:t>]</a:t>
            </a:r>
            <a:r>
              <a:rPr lang="zh-TW" altLang="en-US" sz="3200" dirty="0"/>
              <a:t>，再針對你想要加入</a:t>
            </a:r>
            <a:r>
              <a:rPr lang="en-US" altLang="zh-TW" sz="3200" dirty="0"/>
              <a:t>/</a:t>
            </a:r>
            <a:r>
              <a:rPr lang="zh-TW" altLang="en-US" sz="3200" dirty="0"/>
              <a:t>刪除的專案，進行新增或移除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7A799C1-0029-4EE4-9C89-F550B4E44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338" y="1597868"/>
            <a:ext cx="3801236" cy="2483066"/>
          </a:xfrm>
          <a:prstGeom prst="rect">
            <a:avLst/>
          </a:prstGeom>
        </p:spPr>
      </p:pic>
      <p:sp>
        <p:nvSpPr>
          <p:cNvPr id="8" name="箭號: 向右 7">
            <a:extLst>
              <a:ext uri="{FF2B5EF4-FFF2-40B4-BE49-F238E27FC236}">
                <a16:creationId xmlns:a16="http://schemas.microsoft.com/office/drawing/2014/main" id="{07994F09-1783-479C-B203-15EEE9809D58}"/>
              </a:ext>
            </a:extLst>
          </p:cNvPr>
          <p:cNvSpPr/>
          <p:nvPr/>
        </p:nvSpPr>
        <p:spPr>
          <a:xfrm>
            <a:off x="592668" y="2636201"/>
            <a:ext cx="507670" cy="20320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A9443AE-DCE8-4BCB-8BA4-8214F4A07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1" y="1496266"/>
            <a:ext cx="6493932" cy="4593019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58C83D21-5FBE-4B49-BC00-08EBED35815B}"/>
              </a:ext>
            </a:extLst>
          </p:cNvPr>
          <p:cNvSpPr/>
          <p:nvPr/>
        </p:nvSpPr>
        <p:spPr>
          <a:xfrm>
            <a:off x="5579533" y="2636201"/>
            <a:ext cx="3200400" cy="33327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DFB0E14-97A7-4BDE-9E40-D94BE059626B}"/>
              </a:ext>
            </a:extLst>
          </p:cNvPr>
          <p:cNvSpPr txBox="1"/>
          <p:nvPr/>
        </p:nvSpPr>
        <p:spPr>
          <a:xfrm>
            <a:off x="5486401" y="6089285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長出這一塊內容</a:t>
            </a:r>
          </a:p>
        </p:txBody>
      </p:sp>
    </p:spTree>
    <p:extLst>
      <p:ext uri="{BB962C8B-B14F-4D97-AF65-F5344CB8AC3E}">
        <p14:creationId xmlns:p14="http://schemas.microsoft.com/office/powerpoint/2010/main" val="1029334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27E6FEAD-BD3F-41DC-8656-D04002624E22}"/>
              </a:ext>
            </a:extLst>
          </p:cNvPr>
          <p:cNvSpPr/>
          <p:nvPr/>
        </p:nvSpPr>
        <p:spPr>
          <a:xfrm>
            <a:off x="2637366" y="720522"/>
            <a:ext cx="6917267" cy="60170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sz="1100" dirty="0"/>
              <a:t>---</a:t>
            </a:r>
          </a:p>
          <a:p>
            <a:endParaRPr lang="zh-TW" altLang="en-US" sz="1100" dirty="0"/>
          </a:p>
          <a:p>
            <a:r>
              <a:rPr lang="zh-TW" altLang="en-US" sz="1100" dirty="0"/>
              <a:t>## 📦 Product：</a:t>
            </a:r>
            <a:r>
              <a:rPr lang="en-US" altLang="zh-TW" sz="1100" dirty="0" err="1"/>
              <a:t>DeviceOn</a:t>
            </a:r>
            <a:endParaRPr lang="zh-TW" altLang="en-US" sz="1100" dirty="0"/>
          </a:p>
          <a:p>
            <a:endParaRPr lang="en-US" altLang="zh-TW" sz="1100" dirty="0"/>
          </a:p>
          <a:p>
            <a:r>
              <a:rPr lang="en-US" altLang="zh-TW" sz="1100" dirty="0">
                <a:solidFill>
                  <a:srgbClr val="FF0000"/>
                </a:solidFill>
              </a:rPr>
              <a:t>&lt;!--</a:t>
            </a:r>
            <a:r>
              <a:rPr lang="en-US" altLang="zh-TW" sz="1100" b="1" dirty="0">
                <a:solidFill>
                  <a:srgbClr val="FF0000"/>
                </a:solidFill>
              </a:rPr>
              <a:t>Required</a:t>
            </a:r>
            <a:r>
              <a:rPr lang="en-US" altLang="zh-TW" sz="1100" dirty="0">
                <a:solidFill>
                  <a:srgbClr val="FF0000"/>
                </a:solidFill>
              </a:rPr>
              <a:t> </a:t>
            </a:r>
            <a:r>
              <a:rPr lang="zh-TW" altLang="en-US" sz="1100" dirty="0">
                <a:solidFill>
                  <a:srgbClr val="FF0000"/>
                </a:solidFill>
              </a:rPr>
              <a:t>請挑出主要的核心重點，至多</a:t>
            </a:r>
            <a:r>
              <a:rPr lang="en-US" altLang="zh-TW" sz="1100" dirty="0">
                <a:solidFill>
                  <a:srgbClr val="FF0000"/>
                </a:solidFill>
              </a:rPr>
              <a:t>5</a:t>
            </a:r>
            <a:r>
              <a:rPr lang="zh-TW" altLang="en-US" sz="1100" dirty="0">
                <a:solidFill>
                  <a:srgbClr val="FF0000"/>
                </a:solidFill>
              </a:rPr>
              <a:t>項，最高的貢獻擺越前面，超過部分 </a:t>
            </a:r>
            <a:r>
              <a:rPr lang="en-US" altLang="zh-TW" sz="1100" dirty="0">
                <a:solidFill>
                  <a:srgbClr val="FF0000"/>
                </a:solidFill>
              </a:rPr>
              <a:t>Presentation </a:t>
            </a:r>
            <a:r>
              <a:rPr lang="zh-TW" altLang="en-US" sz="1100" dirty="0">
                <a:solidFill>
                  <a:srgbClr val="FF0000"/>
                </a:solidFill>
              </a:rPr>
              <a:t>將不呈現 </a:t>
            </a:r>
            <a:r>
              <a:rPr lang="en-US" altLang="zh-TW" sz="1100" dirty="0">
                <a:solidFill>
                  <a:srgbClr val="FF0000"/>
                </a:solidFill>
              </a:rPr>
              <a:t>--&gt;</a:t>
            </a:r>
            <a:endParaRPr lang="zh-TW" altLang="en-US" sz="1100" dirty="0">
              <a:solidFill>
                <a:srgbClr val="FF0000"/>
              </a:solidFill>
            </a:endParaRPr>
          </a:p>
          <a:p>
            <a:r>
              <a:rPr lang="zh-TW" altLang="en-US" sz="1100" dirty="0"/>
              <a:t>### - 核心重點 (Key Highlights)</a:t>
            </a:r>
          </a:p>
          <a:p>
            <a:r>
              <a:rPr lang="zh-TW" altLang="en-US" sz="1100" b="1" dirty="0"/>
              <a:t>* **</a:t>
            </a:r>
            <a:r>
              <a:rPr lang="en-US" altLang="zh-TW" sz="1100" b="1" dirty="0"/>
              <a:t>1. [</a:t>
            </a:r>
            <a:r>
              <a:rPr lang="zh-TW" altLang="en-US" sz="1100" b="1" dirty="0"/>
              <a:t>功能</a:t>
            </a:r>
            <a:r>
              <a:rPr lang="en-US" altLang="zh-TW" sz="1100" b="1" dirty="0"/>
              <a:t>/</a:t>
            </a:r>
            <a:r>
              <a:rPr lang="zh-TW" altLang="en-US" sz="1100" b="1" dirty="0"/>
              <a:t>模組</a:t>
            </a:r>
            <a:r>
              <a:rPr lang="en-US" altLang="zh-TW" sz="1100" b="1" dirty="0"/>
              <a:t>]**</a:t>
            </a:r>
            <a:r>
              <a:rPr lang="zh-TW" altLang="en-US" sz="1100" dirty="0"/>
              <a:t>：完成支付 </a:t>
            </a:r>
            <a:r>
              <a:rPr lang="en-US" altLang="zh-TW" sz="1100" dirty="0"/>
              <a:t>API </a:t>
            </a:r>
            <a:r>
              <a:rPr lang="zh-TW" altLang="en-US" sz="1100" dirty="0"/>
              <a:t>重構，降低 </a:t>
            </a:r>
            <a:r>
              <a:rPr lang="en-US" altLang="zh-TW" sz="1100" dirty="0"/>
              <a:t>30% </a:t>
            </a:r>
            <a:r>
              <a:rPr lang="zh-TW" altLang="en-US" sz="1100" dirty="0"/>
              <a:t>延遲</a:t>
            </a:r>
          </a:p>
          <a:p>
            <a:r>
              <a:rPr lang="zh-TW" altLang="en-US" sz="1100" b="1" dirty="0"/>
              <a:t>* **</a:t>
            </a:r>
            <a:r>
              <a:rPr lang="en-US" altLang="zh-TW" sz="1100" b="1" dirty="0"/>
              <a:t>2. [</a:t>
            </a:r>
            <a:r>
              <a:rPr lang="zh-TW" altLang="en-US" sz="1100" b="1" dirty="0"/>
              <a:t>修復</a:t>
            </a:r>
            <a:r>
              <a:rPr lang="en-US" altLang="zh-TW" sz="1100" b="1" dirty="0"/>
              <a:t>/</a:t>
            </a:r>
            <a:r>
              <a:rPr lang="zh-TW" altLang="en-US" sz="1100" b="1" dirty="0"/>
              <a:t>優化</a:t>
            </a:r>
            <a:r>
              <a:rPr lang="en-US" altLang="zh-TW" sz="1100" b="1" dirty="0"/>
              <a:t>]**</a:t>
            </a:r>
            <a:r>
              <a:rPr lang="zh-TW" altLang="en-US" sz="1100" dirty="0"/>
              <a:t>：解決 </a:t>
            </a:r>
            <a:r>
              <a:rPr lang="en-US" altLang="zh-TW" sz="1100" dirty="0"/>
              <a:t>Deadlock </a:t>
            </a:r>
            <a:r>
              <a:rPr lang="zh-TW" altLang="en-US" sz="1100" dirty="0"/>
              <a:t>問題</a:t>
            </a:r>
          </a:p>
          <a:p>
            <a:r>
              <a:rPr lang="zh-TW" altLang="en-US" sz="1100" b="1" dirty="0"/>
              <a:t>* **</a:t>
            </a:r>
            <a:r>
              <a:rPr lang="en-US" altLang="zh-TW" sz="1100" b="1" dirty="0"/>
              <a:t>3. [</a:t>
            </a:r>
            <a:r>
              <a:rPr lang="zh-TW" altLang="en-US" sz="1100" b="1" dirty="0"/>
              <a:t>上線</a:t>
            </a:r>
            <a:r>
              <a:rPr lang="en-US" altLang="zh-TW" sz="1100" b="1" dirty="0"/>
              <a:t>]**</a:t>
            </a:r>
            <a:r>
              <a:rPr lang="zh-TW" altLang="en-US" sz="1100" dirty="0"/>
              <a:t>：</a:t>
            </a:r>
            <a:r>
              <a:rPr lang="en-US" altLang="zh-TW" sz="1100" dirty="0"/>
              <a:t>v2.1.0 </a:t>
            </a:r>
            <a:r>
              <a:rPr lang="zh-TW" altLang="en-US" sz="1100" dirty="0"/>
              <a:t>發布</a:t>
            </a:r>
          </a:p>
          <a:p>
            <a:endParaRPr lang="en-US" altLang="zh-TW" sz="1100" dirty="0"/>
          </a:p>
          <a:p>
            <a:r>
              <a:rPr lang="en-US" altLang="zh-TW" sz="1100" b="1" dirty="0">
                <a:solidFill>
                  <a:srgbClr val="FF0000"/>
                </a:solidFill>
              </a:rPr>
              <a:t>&lt;!—Options</a:t>
            </a:r>
            <a:r>
              <a:rPr lang="zh-TW" altLang="en-US" sz="1100" b="1" dirty="0">
                <a:solidFill>
                  <a:srgbClr val="FF0000"/>
                </a:solidFill>
              </a:rPr>
              <a:t> </a:t>
            </a:r>
            <a:r>
              <a:rPr lang="zh-TW" altLang="en-US" sz="1100" dirty="0">
                <a:solidFill>
                  <a:srgbClr val="FF0000"/>
                </a:solidFill>
              </a:rPr>
              <a:t>為什麼需要做 </a:t>
            </a:r>
            <a:r>
              <a:rPr lang="en-US" altLang="zh-TW" sz="1100" b="1" dirty="0">
                <a:solidFill>
                  <a:srgbClr val="FF0000"/>
                </a:solidFill>
              </a:rPr>
              <a:t>--&gt;</a:t>
            </a:r>
            <a:endParaRPr lang="zh-TW" altLang="en-US" sz="1100" b="1" dirty="0">
              <a:solidFill>
                <a:srgbClr val="FF0000"/>
              </a:solidFill>
            </a:endParaRPr>
          </a:p>
          <a:p>
            <a:r>
              <a:rPr lang="zh-TW" altLang="en-US" sz="1100" dirty="0"/>
              <a:t>### - 項目的補充說明 </a:t>
            </a:r>
            <a:endParaRPr lang="en-US" altLang="zh-TW" sz="1100" dirty="0"/>
          </a:p>
          <a:p>
            <a:r>
              <a:rPr lang="zh-TW" altLang="en-US" sz="1100" dirty="0"/>
              <a:t>&lt;div class="card"&gt;</a:t>
            </a:r>
          </a:p>
          <a:p>
            <a:r>
              <a:rPr lang="zh-TW" altLang="en-US" sz="1100" b="1" dirty="0"/>
              <a:t>* **背景</a:t>
            </a:r>
            <a:r>
              <a:rPr lang="en-US" altLang="zh-TW" sz="1100" b="1" dirty="0"/>
              <a:t>/</a:t>
            </a:r>
            <a:r>
              <a:rPr lang="zh-TW" altLang="en-US" sz="1100" b="1" dirty="0"/>
              <a:t>痛點**</a:t>
            </a:r>
            <a:r>
              <a:rPr lang="zh-TW" altLang="en-US" sz="1100" dirty="0"/>
              <a:t>：為了符合歐盟 </a:t>
            </a:r>
            <a:r>
              <a:rPr lang="en-US" altLang="zh-TW" sz="1100" dirty="0"/>
              <a:t>CRA </a:t>
            </a:r>
            <a:r>
              <a:rPr lang="zh-TW" altLang="en-US" sz="1100" dirty="0"/>
              <a:t>規範，</a:t>
            </a:r>
            <a:r>
              <a:rPr lang="en-US" altLang="zh-TW" sz="1100" dirty="0" err="1"/>
              <a:t>DeviceOn</a:t>
            </a:r>
            <a:r>
              <a:rPr lang="en-US" altLang="zh-TW" sz="1100" dirty="0"/>
              <a:t> </a:t>
            </a:r>
            <a:r>
              <a:rPr lang="zh-TW" altLang="en-US" sz="1100" dirty="0"/>
              <a:t>必須將 </a:t>
            </a:r>
            <a:r>
              <a:rPr lang="en-US" altLang="zh-TW" sz="1100" dirty="0"/>
              <a:t>JDK </a:t>
            </a:r>
            <a:r>
              <a:rPr lang="zh-TW" altLang="en-US" sz="1100" dirty="0"/>
              <a:t>升級至 </a:t>
            </a:r>
            <a:r>
              <a:rPr lang="en-US" altLang="zh-TW" sz="1100" dirty="0"/>
              <a:t>17</a:t>
            </a:r>
            <a:r>
              <a:rPr lang="zh-TW" altLang="en-US" sz="1100" dirty="0"/>
              <a:t>，生成 </a:t>
            </a:r>
            <a:r>
              <a:rPr lang="en-US" altLang="zh-TW" sz="1100" dirty="0"/>
              <a:t>SBOM </a:t>
            </a:r>
            <a:r>
              <a:rPr lang="zh-TW" altLang="en-US" sz="1100" dirty="0"/>
              <a:t>並進行 </a:t>
            </a:r>
            <a:r>
              <a:rPr lang="en-US" altLang="zh-TW" sz="1100" dirty="0"/>
              <a:t>CVE </a:t>
            </a:r>
            <a:r>
              <a:rPr lang="zh-TW" altLang="en-US" sz="1100" dirty="0"/>
              <a:t>漏洞比對與修復。</a:t>
            </a:r>
          </a:p>
          <a:p>
            <a:r>
              <a:rPr lang="zh-TW" altLang="en-US" sz="1100" b="1" dirty="0"/>
              <a:t>* **價值**</a:t>
            </a:r>
            <a:r>
              <a:rPr lang="zh-TW" altLang="en-US" sz="1100" dirty="0"/>
              <a:t>：提升軟體安全性，符合 </a:t>
            </a:r>
            <a:r>
              <a:rPr lang="en-US" altLang="zh-TW" sz="1100" dirty="0"/>
              <a:t>CRA </a:t>
            </a:r>
            <a:r>
              <a:rPr lang="zh-TW" altLang="en-US" sz="1100" dirty="0"/>
              <a:t>需求</a:t>
            </a:r>
          </a:p>
          <a:p>
            <a:r>
              <a:rPr lang="zh-TW" altLang="en-US" sz="1100" dirty="0"/>
              <a:t>&lt;/div&gt;</a:t>
            </a:r>
          </a:p>
          <a:p>
            <a:endParaRPr lang="en-US" altLang="zh-TW" sz="1100" dirty="0"/>
          </a:p>
          <a:p>
            <a:r>
              <a:rPr lang="en-US" altLang="zh-TW" sz="1100" b="1" dirty="0">
                <a:solidFill>
                  <a:srgbClr val="FF0000"/>
                </a:solidFill>
              </a:rPr>
              <a:t>&lt;!--Options --&gt;</a:t>
            </a:r>
            <a:endParaRPr lang="zh-TW" altLang="en-US" sz="1100" b="1" dirty="0">
              <a:solidFill>
                <a:srgbClr val="FF0000"/>
              </a:solidFill>
            </a:endParaRPr>
          </a:p>
          <a:p>
            <a:r>
              <a:rPr lang="zh-TW" altLang="en-US" sz="1100" dirty="0"/>
              <a:t>### - 下週計畫 (Ongoing/Todo)</a:t>
            </a:r>
          </a:p>
          <a:p>
            <a:r>
              <a:rPr lang="en-US" altLang="zh-TW" sz="1100" b="1" dirty="0"/>
              <a:t>- </a:t>
            </a:r>
            <a:r>
              <a:rPr lang="en-US" altLang="zh-TW" sz="1100" dirty="0"/>
              <a:t>[ ] </a:t>
            </a:r>
            <a:r>
              <a:rPr lang="zh-TW" altLang="en-US" sz="1100" dirty="0"/>
              <a:t>第三方金流串接（預計 </a:t>
            </a:r>
            <a:r>
              <a:rPr lang="en-US" altLang="zh-TW" sz="1100" dirty="0"/>
              <a:t>8/15</a:t>
            </a:r>
            <a:r>
              <a:rPr lang="zh-TW" altLang="en-US" sz="1100" dirty="0"/>
              <a:t>）</a:t>
            </a:r>
          </a:p>
          <a:p>
            <a:r>
              <a:rPr lang="en-US" altLang="zh-TW" sz="1100" b="1" dirty="0"/>
              <a:t>- </a:t>
            </a:r>
            <a:r>
              <a:rPr lang="en-US" altLang="zh-TW" sz="1100" dirty="0"/>
              <a:t>[ ] </a:t>
            </a:r>
            <a:r>
              <a:rPr lang="zh-TW" altLang="en-US" sz="1100" dirty="0"/>
              <a:t>撰寫效能測試報告</a:t>
            </a:r>
          </a:p>
          <a:p>
            <a:endParaRPr lang="en-US" altLang="zh-TW" sz="1100" dirty="0"/>
          </a:p>
          <a:p>
            <a:r>
              <a:rPr lang="en-US" altLang="zh-TW" sz="1100" b="1" dirty="0">
                <a:solidFill>
                  <a:srgbClr val="FF0000"/>
                </a:solidFill>
              </a:rPr>
              <a:t>&lt;!--Options --&gt;</a:t>
            </a:r>
            <a:endParaRPr lang="zh-TW" altLang="en-US" sz="1100" dirty="0"/>
          </a:p>
          <a:p>
            <a:r>
              <a:rPr lang="zh-TW" altLang="en-US" sz="1100" dirty="0"/>
              <a:t>### - 🔥 討論 / 阻礙 (非技術層面, 跨組織/跨資源)</a:t>
            </a:r>
          </a:p>
          <a:p>
            <a:r>
              <a:rPr lang="zh-TW" altLang="en-US" sz="1100" dirty="0"/>
              <a:t>&lt;div class="card warning"&gt;</a:t>
            </a:r>
          </a:p>
          <a:p>
            <a:r>
              <a:rPr lang="zh-TW" altLang="en-US" sz="1100" b="1" dirty="0"/>
              <a:t>* **阻礙**</a:t>
            </a:r>
            <a:r>
              <a:rPr lang="zh-TW" altLang="en-US" sz="1100" dirty="0"/>
              <a:t>：需要 </a:t>
            </a:r>
            <a:r>
              <a:rPr lang="en-US" altLang="zh-TW" sz="1100" dirty="0"/>
              <a:t>DBA </a:t>
            </a:r>
            <a:r>
              <a:rPr lang="zh-TW" altLang="en-US" sz="1100" dirty="0"/>
              <a:t>協助 </a:t>
            </a:r>
            <a:r>
              <a:rPr lang="en-US" altLang="zh-TW" sz="1100" dirty="0"/>
              <a:t>Prod </a:t>
            </a:r>
            <a:r>
              <a:rPr lang="zh-TW" altLang="en-US" sz="1100" dirty="0"/>
              <a:t>唯讀權限</a:t>
            </a:r>
          </a:p>
          <a:p>
            <a:r>
              <a:rPr lang="zh-TW" altLang="en-US" sz="1100" dirty="0"/>
              <a:t>&lt;/div&gt;</a:t>
            </a:r>
          </a:p>
          <a:p>
            <a:endParaRPr lang="zh-TW" altLang="en-US" sz="1100" dirty="0"/>
          </a:p>
          <a:p>
            <a:r>
              <a:rPr lang="zh-TW" altLang="en-US" sz="1100" dirty="0"/>
              <a:t>### - 🔗 相關連結/附件</a:t>
            </a:r>
          </a:p>
          <a:p>
            <a:r>
              <a:rPr lang="zh-TW" altLang="en-US" sz="1100" dirty="0"/>
              <a:t>&lt;div class="kms-link"&gt;</a:t>
            </a:r>
          </a:p>
          <a:p>
            <a:r>
              <a:rPr lang="en-US" altLang="zh-TW" sz="1100" dirty="0"/>
              <a:t>* [</a:t>
            </a:r>
            <a:r>
              <a:rPr lang="en-US" altLang="zh-TW" sz="1100" dirty="0" err="1"/>
              <a:t>DeviceOn</a:t>
            </a:r>
            <a:r>
              <a:rPr lang="en-US" altLang="zh-TW" sz="1100" dirty="0"/>
              <a:t> Observability Dashboard v1](https://example.com/deviceon/observability-dashboard-v1)</a:t>
            </a:r>
          </a:p>
          <a:p>
            <a:r>
              <a:rPr lang="zh-TW" altLang="en-US" sz="1100" dirty="0"/>
              <a:t>&lt;/div&gt;</a:t>
            </a:r>
          </a:p>
          <a:p>
            <a:endParaRPr lang="zh-TW" altLang="en-US" sz="1100" dirty="0"/>
          </a:p>
          <a:p>
            <a:r>
              <a:rPr lang="zh-TW" altLang="en-US" sz="1100" dirty="0"/>
              <a:t>---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08BDD3C-CCA1-4249-9A7E-8CD25AE7C62F}"/>
              </a:ext>
            </a:extLst>
          </p:cNvPr>
          <p:cNvSpPr/>
          <p:nvPr/>
        </p:nvSpPr>
        <p:spPr>
          <a:xfrm>
            <a:off x="3849230" y="120446"/>
            <a:ext cx="44935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dirty="0"/>
              <a:t>請參考下方的範例模板進行填寫</a:t>
            </a:r>
          </a:p>
        </p:txBody>
      </p:sp>
    </p:spTree>
    <p:extLst>
      <p:ext uri="{BB962C8B-B14F-4D97-AF65-F5344CB8AC3E}">
        <p14:creationId xmlns:p14="http://schemas.microsoft.com/office/powerpoint/2010/main" val="1371805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8F2A1FBD-2DB6-4927-9CF0-4D3E6ADFF6AC}"/>
              </a:ext>
            </a:extLst>
          </p:cNvPr>
          <p:cNvSpPr txBox="1">
            <a:spLocks/>
          </p:cNvSpPr>
          <p:nvPr/>
        </p:nvSpPr>
        <p:spPr>
          <a:xfrm>
            <a:off x="728134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/>
              <a:t>報告撰寫完畢後，記得點選 </a:t>
            </a:r>
            <a:r>
              <a:rPr lang="en-US" altLang="zh-TW" sz="3200" dirty="0"/>
              <a:t>[</a:t>
            </a:r>
            <a:r>
              <a:rPr lang="zh-TW" altLang="en-US" sz="3200" dirty="0"/>
              <a:t>儲存</a:t>
            </a:r>
            <a:r>
              <a:rPr lang="en-US" altLang="zh-TW" sz="3200" dirty="0"/>
              <a:t>]</a:t>
            </a:r>
            <a:r>
              <a:rPr lang="zh-TW" altLang="en-US" sz="3200" dirty="0"/>
              <a:t> 與 </a:t>
            </a:r>
            <a:r>
              <a:rPr lang="en-US" altLang="zh-TW" sz="3200" dirty="0"/>
              <a:t>[AI</a:t>
            </a:r>
            <a:r>
              <a:rPr lang="zh-TW" altLang="en-US" sz="3200" dirty="0"/>
              <a:t> </a:t>
            </a:r>
            <a:r>
              <a:rPr lang="en-US" altLang="zh-TW" sz="3200" dirty="0"/>
              <a:t>Refactor</a:t>
            </a:r>
            <a:r>
              <a:rPr lang="zh-TW" altLang="en-US" sz="3200" dirty="0"/>
              <a:t>與分發專案</a:t>
            </a:r>
            <a:r>
              <a:rPr lang="en-US" altLang="zh-TW" sz="3200" dirty="0"/>
              <a:t>]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5BF2767-4487-48BF-96C9-707EBC634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407" y="1469337"/>
            <a:ext cx="4191585" cy="1162212"/>
          </a:xfrm>
          <a:prstGeom prst="rect">
            <a:avLst/>
          </a:prstGeom>
        </p:spPr>
      </p:pic>
      <p:sp>
        <p:nvSpPr>
          <p:cNvPr id="6" name="箭號: 向右 5">
            <a:extLst>
              <a:ext uri="{FF2B5EF4-FFF2-40B4-BE49-F238E27FC236}">
                <a16:creationId xmlns:a16="http://schemas.microsoft.com/office/drawing/2014/main" id="{2A25499B-2198-4CC9-ADF1-2AE66ADE2616}"/>
              </a:ext>
            </a:extLst>
          </p:cNvPr>
          <p:cNvSpPr/>
          <p:nvPr/>
        </p:nvSpPr>
        <p:spPr>
          <a:xfrm rot="5400000">
            <a:off x="5243568" y="2013713"/>
            <a:ext cx="273836" cy="19489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D7C2140A-E647-4CF3-9BCE-41B8FCDCD1DF}"/>
              </a:ext>
            </a:extLst>
          </p:cNvPr>
          <p:cNvSpPr/>
          <p:nvPr/>
        </p:nvSpPr>
        <p:spPr>
          <a:xfrm rot="5400000">
            <a:off x="6615168" y="2013713"/>
            <a:ext cx="273836" cy="19489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F1390D5-154F-4249-9B97-E73D26AB4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684" y="3541720"/>
            <a:ext cx="9604500" cy="194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124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9D3B7EAF-A718-4476-8FC9-30464F82F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134" y="1137166"/>
            <a:ext cx="10112673" cy="5336567"/>
          </a:xfrm>
          <a:prstGeom prst="rect">
            <a:avLst/>
          </a:prstGeom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id="{1B01D773-9F8D-4FAD-9AB7-0DC083742D87}"/>
              </a:ext>
            </a:extLst>
          </p:cNvPr>
          <p:cNvSpPr txBox="1">
            <a:spLocks/>
          </p:cNvSpPr>
          <p:nvPr/>
        </p:nvSpPr>
        <p:spPr>
          <a:xfrm>
            <a:off x="728134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/>
              <a:t>分發完畢後，可以到 </a:t>
            </a:r>
            <a:r>
              <a:rPr lang="en-US" altLang="zh-TW" sz="3200" dirty="0"/>
              <a:t>[</a:t>
            </a:r>
            <a:r>
              <a:rPr lang="zh-TW" altLang="en-US" sz="3200" dirty="0"/>
              <a:t>整體進度上傳</a:t>
            </a:r>
            <a:r>
              <a:rPr lang="en-US" altLang="zh-TW" sz="3200" dirty="0"/>
              <a:t>]</a:t>
            </a:r>
            <a:r>
              <a:rPr lang="zh-TW" altLang="en-US" sz="3200" dirty="0"/>
              <a:t> 的個別專案上，進行審閱</a:t>
            </a:r>
            <a:endParaRPr lang="en-US" altLang="zh-TW" sz="32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1505E80-F1E8-4E8D-AC24-F772010C6251}"/>
              </a:ext>
            </a:extLst>
          </p:cNvPr>
          <p:cNvSpPr/>
          <p:nvPr/>
        </p:nvSpPr>
        <p:spPr>
          <a:xfrm>
            <a:off x="8932332" y="1227032"/>
            <a:ext cx="872068" cy="2424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箭號: 向下 6">
            <a:extLst>
              <a:ext uri="{FF2B5EF4-FFF2-40B4-BE49-F238E27FC236}">
                <a16:creationId xmlns:a16="http://schemas.microsoft.com/office/drawing/2014/main" id="{FD486537-644A-4482-8AA0-6EFBDB75BF54}"/>
              </a:ext>
            </a:extLst>
          </p:cNvPr>
          <p:cNvSpPr/>
          <p:nvPr/>
        </p:nvSpPr>
        <p:spPr>
          <a:xfrm>
            <a:off x="5655734" y="2040467"/>
            <a:ext cx="330200" cy="499534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5542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035B47F1-8B2B-4D2B-9375-819B236628FE}"/>
              </a:ext>
            </a:extLst>
          </p:cNvPr>
          <p:cNvSpPr txBox="1">
            <a:spLocks/>
          </p:cNvSpPr>
          <p:nvPr/>
        </p:nvSpPr>
        <p:spPr>
          <a:xfrm>
            <a:off x="728134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/>
              <a:t>進入專案後，點選團隊成員的</a:t>
            </a:r>
            <a:r>
              <a:rPr lang="en-US" altLang="zh-TW" sz="3200" dirty="0"/>
              <a:t>[</a:t>
            </a:r>
            <a:r>
              <a:rPr lang="zh-TW" altLang="en-US" sz="3200" dirty="0"/>
              <a:t>簡報放映</a:t>
            </a:r>
            <a:r>
              <a:rPr lang="en-US" altLang="zh-TW" sz="3200" dirty="0"/>
              <a:t>]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1DFE297E-7B1A-46EC-AF07-49129745C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658" y="1261533"/>
            <a:ext cx="11153192" cy="4615733"/>
          </a:xfrm>
          <a:prstGeom prst="rect">
            <a:avLst/>
          </a:prstGeom>
        </p:spPr>
      </p:pic>
      <p:sp>
        <p:nvSpPr>
          <p:cNvPr id="7" name="箭號: 向下 6">
            <a:extLst>
              <a:ext uri="{FF2B5EF4-FFF2-40B4-BE49-F238E27FC236}">
                <a16:creationId xmlns:a16="http://schemas.microsoft.com/office/drawing/2014/main" id="{972976CE-5E01-4FB5-A30F-AE0E3FA4D25E}"/>
              </a:ext>
            </a:extLst>
          </p:cNvPr>
          <p:cNvSpPr/>
          <p:nvPr/>
        </p:nvSpPr>
        <p:spPr>
          <a:xfrm>
            <a:off x="9994900" y="3843866"/>
            <a:ext cx="330200" cy="499534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7474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7020F0-76E3-4DA9-B093-FF3A60F4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4CADCB-D2FA-49EA-AE9B-3D91247BF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C4B6553-0C3C-4213-A74B-4FB297467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7774"/>
            <a:ext cx="12192000" cy="5762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90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070062-35BC-419E-8752-9DCC4D89E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17503D-4F69-403F-B017-4D09B0BF9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3C7DA61-BD9D-4DAD-8225-9A3E7931B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1421"/>
            <a:ext cx="12192000" cy="577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752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06DB087F-9257-4A72-9D87-9BE9D812A410}"/>
              </a:ext>
            </a:extLst>
          </p:cNvPr>
          <p:cNvSpPr txBox="1">
            <a:spLocks/>
          </p:cNvSpPr>
          <p:nvPr/>
        </p:nvSpPr>
        <p:spPr>
          <a:xfrm>
            <a:off x="728134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/>
              <a:t>如果覺得報告的內容需要修改，可以點選 </a:t>
            </a:r>
            <a:r>
              <a:rPr lang="en-US" altLang="zh-TW" sz="3200" dirty="0"/>
              <a:t>[</a:t>
            </a:r>
            <a:r>
              <a:rPr lang="zh-TW" altLang="en-US" sz="3200" dirty="0"/>
              <a:t>編輯內容</a:t>
            </a:r>
            <a:r>
              <a:rPr lang="en-US" altLang="zh-TW" sz="3200" dirty="0"/>
              <a:t>]</a:t>
            </a:r>
          </a:p>
        </p:txBody>
      </p:sp>
      <p:sp>
        <p:nvSpPr>
          <p:cNvPr id="6" name="箭號: 向下 5">
            <a:extLst>
              <a:ext uri="{FF2B5EF4-FFF2-40B4-BE49-F238E27FC236}">
                <a16:creationId xmlns:a16="http://schemas.microsoft.com/office/drawing/2014/main" id="{AFA1F0A6-26BE-4138-8915-EA999276A499}"/>
              </a:ext>
            </a:extLst>
          </p:cNvPr>
          <p:cNvSpPr/>
          <p:nvPr/>
        </p:nvSpPr>
        <p:spPr>
          <a:xfrm>
            <a:off x="1643747" y="1143529"/>
            <a:ext cx="330200" cy="499534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3D00886-4ABB-4CD3-9C9C-E05A95911F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889" b="93605"/>
          <a:stretch/>
        </p:blipFill>
        <p:spPr>
          <a:xfrm>
            <a:off x="948266" y="1643063"/>
            <a:ext cx="2051361" cy="559246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F16D3446-D512-440B-AA21-485140042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0380" y="1143529"/>
            <a:ext cx="8196432" cy="5333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314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1AA2B3-1A83-4C27-9008-7F1AD6B1A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61378"/>
            <a:ext cx="10515600" cy="1325563"/>
          </a:xfrm>
        </p:spPr>
        <p:txBody>
          <a:bodyPr/>
          <a:lstStyle/>
          <a:p>
            <a:r>
              <a:rPr lang="zh-TW" altLang="en-US" b="1" dirty="0"/>
              <a:t>整體進度上傳</a:t>
            </a:r>
          </a:p>
        </p:txBody>
      </p:sp>
    </p:spTree>
    <p:extLst>
      <p:ext uri="{BB962C8B-B14F-4D97-AF65-F5344CB8AC3E}">
        <p14:creationId xmlns:p14="http://schemas.microsoft.com/office/powerpoint/2010/main" val="2983189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E461586F-B449-43AF-94B8-932C28D7F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32" y="962925"/>
            <a:ext cx="9895409" cy="5310875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637DED57-B5B6-47B7-AF15-57A4EAE599A3}"/>
              </a:ext>
            </a:extLst>
          </p:cNvPr>
          <p:cNvSpPr txBox="1">
            <a:spLocks/>
          </p:cNvSpPr>
          <p:nvPr/>
        </p:nvSpPr>
        <p:spPr>
          <a:xfrm>
            <a:off x="728134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/>
              <a:t>點選 </a:t>
            </a:r>
            <a:r>
              <a:rPr lang="en-US" altLang="zh-TW" sz="3200" dirty="0"/>
              <a:t>[</a:t>
            </a:r>
            <a:r>
              <a:rPr lang="zh-TW" altLang="en-US" sz="3200" dirty="0"/>
              <a:t>整體進度上傳</a:t>
            </a:r>
            <a:r>
              <a:rPr lang="en-US" altLang="zh-TW" sz="3200" dirty="0"/>
              <a:t>]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E621A24-1E0A-45B2-883D-99977B828628}"/>
              </a:ext>
            </a:extLst>
          </p:cNvPr>
          <p:cNvSpPr/>
          <p:nvPr/>
        </p:nvSpPr>
        <p:spPr>
          <a:xfrm>
            <a:off x="9586027" y="1084617"/>
            <a:ext cx="794108" cy="2409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69583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E461586F-B449-43AF-94B8-932C28D7F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32" y="962925"/>
            <a:ext cx="9895409" cy="5310875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637DED57-B5B6-47B7-AF15-57A4EAE599A3}"/>
              </a:ext>
            </a:extLst>
          </p:cNvPr>
          <p:cNvSpPr txBox="1">
            <a:spLocks/>
          </p:cNvSpPr>
          <p:nvPr/>
        </p:nvSpPr>
        <p:spPr>
          <a:xfrm>
            <a:off x="728134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/>
              <a:t>點選 </a:t>
            </a:r>
            <a:r>
              <a:rPr lang="en-US" altLang="zh-TW" sz="3200" dirty="0"/>
              <a:t>Follow-up</a:t>
            </a:r>
            <a:r>
              <a:rPr lang="zh-TW" altLang="en-US" sz="3200" dirty="0"/>
              <a:t>，撰寫上週的 </a:t>
            </a:r>
            <a:r>
              <a:rPr lang="en-US" altLang="zh-TW" sz="3200" dirty="0"/>
              <a:t>Follow-up Items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E621A24-1E0A-45B2-883D-99977B828628}"/>
              </a:ext>
            </a:extLst>
          </p:cNvPr>
          <p:cNvSpPr/>
          <p:nvPr/>
        </p:nvSpPr>
        <p:spPr>
          <a:xfrm>
            <a:off x="882293" y="2288487"/>
            <a:ext cx="3046239" cy="17924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2103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27E6FEAD-BD3F-41DC-8656-D04002624E22}"/>
              </a:ext>
            </a:extLst>
          </p:cNvPr>
          <p:cNvSpPr/>
          <p:nvPr/>
        </p:nvSpPr>
        <p:spPr>
          <a:xfrm>
            <a:off x="2637366" y="720522"/>
            <a:ext cx="6917267" cy="22929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sz="1100" dirty="0"/>
              <a:t>## 1. </a:t>
            </a:r>
            <a:r>
              <a:rPr lang="zh-TW" altLang="en-US" sz="1100" dirty="0"/>
              <a:t>上次會議 </a:t>
            </a:r>
            <a:r>
              <a:rPr lang="en-US" altLang="zh-TW" sz="1100" dirty="0"/>
              <a:t>Follow-up</a:t>
            </a:r>
          </a:p>
          <a:p>
            <a:r>
              <a:rPr lang="en-US" altLang="zh-TW" sz="1100" dirty="0"/>
              <a:t> </a:t>
            </a:r>
          </a:p>
          <a:p>
            <a:r>
              <a:rPr lang="en-US" altLang="zh-TW" sz="1100" dirty="0"/>
              <a:t>* </a:t>
            </a:r>
            <a:r>
              <a:rPr lang="zh-TW" altLang="en-US" sz="1100" dirty="0"/>
              <a:t>項目 </a:t>
            </a:r>
            <a:r>
              <a:rPr lang="en-US" altLang="zh-TW" sz="1100" dirty="0"/>
              <a:t>1</a:t>
            </a:r>
            <a:r>
              <a:rPr lang="zh-TW" altLang="en-US" sz="1100" dirty="0"/>
              <a:t>｜**</a:t>
            </a:r>
            <a:r>
              <a:rPr lang="en-US" altLang="zh-TW" sz="1100" dirty="0"/>
              <a:t>[</a:t>
            </a:r>
            <a:r>
              <a:rPr lang="zh-TW" altLang="en-US" sz="1100" dirty="0"/>
              <a:t>事項名稱</a:t>
            </a:r>
            <a:r>
              <a:rPr lang="en-US" altLang="zh-TW" sz="1100" dirty="0"/>
              <a:t>]**</a:t>
            </a:r>
            <a:endParaRPr lang="zh-TW" altLang="en-US" sz="1100" dirty="0"/>
          </a:p>
          <a:p>
            <a:r>
              <a:rPr lang="zh-TW" altLang="en-US" sz="1100" dirty="0"/>
              <a:t>  * </a:t>
            </a:r>
            <a:r>
              <a:rPr lang="en-US" altLang="zh-TW" sz="1100" dirty="0"/>
              <a:t>Owner</a:t>
            </a:r>
            <a:r>
              <a:rPr lang="zh-TW" altLang="en-US" sz="1100" dirty="0"/>
              <a:t>：</a:t>
            </a:r>
            <a:r>
              <a:rPr lang="en-US" altLang="zh-TW" sz="1100" dirty="0"/>
              <a:t>[</a:t>
            </a:r>
            <a:r>
              <a:rPr lang="zh-TW" altLang="en-US" sz="1100" dirty="0"/>
              <a:t>姓名</a:t>
            </a:r>
            <a:r>
              <a:rPr lang="en-US" altLang="zh-TW" sz="1100" dirty="0"/>
              <a:t>]</a:t>
            </a:r>
            <a:r>
              <a:rPr lang="zh-TW" altLang="en-US" sz="1100" dirty="0"/>
              <a:t>｜狀態：✅ </a:t>
            </a:r>
            <a:r>
              <a:rPr lang="en-US" altLang="zh-TW" sz="1100" dirty="0"/>
              <a:t>Done</a:t>
            </a:r>
          </a:p>
          <a:p>
            <a:r>
              <a:rPr lang="en-US" altLang="zh-TW" sz="1100" dirty="0"/>
              <a:t>  * Result</a:t>
            </a:r>
            <a:r>
              <a:rPr lang="zh-TW" altLang="en-US" sz="1100" dirty="0"/>
              <a:t>：</a:t>
            </a:r>
            <a:r>
              <a:rPr lang="en-US" altLang="zh-TW" sz="1100" dirty="0"/>
              <a:t>[</a:t>
            </a:r>
            <a:r>
              <a:rPr lang="zh-TW" altLang="en-US" sz="1100" dirty="0"/>
              <a:t>簡短說明成果</a:t>
            </a:r>
            <a:r>
              <a:rPr lang="en-US" altLang="zh-TW" sz="1100" dirty="0"/>
              <a:t>]</a:t>
            </a:r>
          </a:p>
          <a:p>
            <a:r>
              <a:rPr lang="en-US" altLang="zh-TW" sz="1100" dirty="0"/>
              <a:t> </a:t>
            </a:r>
          </a:p>
          <a:p>
            <a:r>
              <a:rPr lang="zh-TW" altLang="en-US" sz="1100" dirty="0"/>
              <a:t>* 項目 </a:t>
            </a:r>
            <a:r>
              <a:rPr lang="en-US" altLang="zh-TW" sz="1100" dirty="0"/>
              <a:t>2</a:t>
            </a:r>
            <a:r>
              <a:rPr lang="zh-TW" altLang="en-US" sz="1100" dirty="0"/>
              <a:t>｜**</a:t>
            </a:r>
            <a:r>
              <a:rPr lang="en-US" altLang="zh-TW" sz="1100" dirty="0"/>
              <a:t>[</a:t>
            </a:r>
            <a:r>
              <a:rPr lang="zh-TW" altLang="en-US" sz="1100" dirty="0"/>
              <a:t>事項名稱</a:t>
            </a:r>
            <a:r>
              <a:rPr lang="en-US" altLang="zh-TW" sz="1100" dirty="0"/>
              <a:t>]**</a:t>
            </a:r>
            <a:endParaRPr lang="zh-TW" altLang="en-US" sz="1100" dirty="0"/>
          </a:p>
          <a:p>
            <a:r>
              <a:rPr lang="zh-TW" altLang="en-US" sz="1100" dirty="0"/>
              <a:t>  * </a:t>
            </a:r>
            <a:r>
              <a:rPr lang="en-US" altLang="zh-TW" sz="1100" dirty="0"/>
              <a:t>Owner</a:t>
            </a:r>
            <a:r>
              <a:rPr lang="zh-TW" altLang="en-US" sz="1100" dirty="0"/>
              <a:t>：</a:t>
            </a:r>
            <a:r>
              <a:rPr lang="en-US" altLang="zh-TW" sz="1100" dirty="0"/>
              <a:t>[</a:t>
            </a:r>
            <a:r>
              <a:rPr lang="zh-TW" altLang="en-US" sz="1100" dirty="0"/>
              <a:t>姓名</a:t>
            </a:r>
            <a:r>
              <a:rPr lang="en-US" altLang="zh-TW" sz="1100" dirty="0"/>
              <a:t>]</a:t>
            </a:r>
            <a:r>
              <a:rPr lang="zh-TW" altLang="en-US" sz="1100" dirty="0"/>
              <a:t>｜狀態：✅ </a:t>
            </a:r>
            <a:r>
              <a:rPr lang="en-US" altLang="zh-TW" sz="1100" dirty="0"/>
              <a:t>Done</a:t>
            </a:r>
          </a:p>
          <a:p>
            <a:r>
              <a:rPr lang="en-US" altLang="zh-TW" sz="1100" dirty="0"/>
              <a:t>  * Result</a:t>
            </a:r>
            <a:r>
              <a:rPr lang="zh-TW" altLang="en-US" sz="1100" dirty="0"/>
              <a:t>：</a:t>
            </a:r>
            <a:r>
              <a:rPr lang="en-US" altLang="zh-TW" sz="1100" dirty="0"/>
              <a:t>[</a:t>
            </a:r>
            <a:r>
              <a:rPr lang="zh-TW" altLang="en-US" sz="1100" dirty="0"/>
              <a:t>簡短說明成果</a:t>
            </a:r>
            <a:r>
              <a:rPr lang="en-US" altLang="zh-TW" sz="1100" dirty="0"/>
              <a:t>]</a:t>
            </a:r>
          </a:p>
          <a:p>
            <a:r>
              <a:rPr lang="en-US" altLang="zh-TW" sz="1100" dirty="0"/>
              <a:t> </a:t>
            </a:r>
          </a:p>
          <a:p>
            <a:r>
              <a:rPr lang="en-US" altLang="zh-TW" sz="1100" dirty="0"/>
              <a:t>&gt; </a:t>
            </a:r>
            <a:r>
              <a:rPr lang="zh-TW" altLang="en-US" sz="1100" dirty="0"/>
              <a:t>**補充說明**：  </a:t>
            </a:r>
          </a:p>
          <a:p>
            <a:r>
              <a:rPr lang="en-US" altLang="zh-TW" sz="1100" dirty="0"/>
              <a:t>&gt; [</a:t>
            </a:r>
            <a:r>
              <a:rPr lang="zh-TW" altLang="en-US" sz="1100" dirty="0"/>
              <a:t>整體性的補充說明，無則可刪除</a:t>
            </a:r>
            <a:r>
              <a:rPr lang="en-US" altLang="zh-TW" sz="1100" dirty="0"/>
              <a:t>]</a:t>
            </a:r>
          </a:p>
          <a:p>
            <a:r>
              <a:rPr lang="en-US" altLang="zh-TW" sz="1100" dirty="0"/>
              <a:t> 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08BDD3C-CCA1-4249-9A7E-8CD25AE7C62F}"/>
              </a:ext>
            </a:extLst>
          </p:cNvPr>
          <p:cNvSpPr/>
          <p:nvPr/>
        </p:nvSpPr>
        <p:spPr>
          <a:xfrm>
            <a:off x="3849230" y="120446"/>
            <a:ext cx="44935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dirty="0"/>
              <a:t>請參考下方的範例模板進行填寫</a:t>
            </a:r>
          </a:p>
        </p:txBody>
      </p:sp>
    </p:spTree>
    <p:extLst>
      <p:ext uri="{BB962C8B-B14F-4D97-AF65-F5344CB8AC3E}">
        <p14:creationId xmlns:p14="http://schemas.microsoft.com/office/powerpoint/2010/main" val="3384150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FCA80F9B-80A6-48E4-AF06-DDFE9594A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134" y="1106213"/>
            <a:ext cx="9508066" cy="5516363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637DED57-B5B6-47B7-AF15-57A4EAE599A3}"/>
              </a:ext>
            </a:extLst>
          </p:cNvPr>
          <p:cNvSpPr txBox="1">
            <a:spLocks/>
          </p:cNvSpPr>
          <p:nvPr/>
        </p:nvSpPr>
        <p:spPr>
          <a:xfrm>
            <a:off x="728134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/>
              <a:t>請按照模板進行填寫，並點選 </a:t>
            </a:r>
            <a:r>
              <a:rPr lang="en-US" altLang="zh-TW" sz="3200" dirty="0"/>
              <a:t>[</a:t>
            </a:r>
            <a:r>
              <a:rPr lang="zh-TW" altLang="en-US" sz="3200" dirty="0"/>
              <a:t>儲存</a:t>
            </a:r>
            <a:r>
              <a:rPr lang="en-US" altLang="zh-TW" sz="3200" dirty="0"/>
              <a:t>]</a:t>
            </a:r>
            <a:r>
              <a:rPr lang="zh-TW" altLang="en-US" sz="3200" dirty="0"/>
              <a:t> 與 </a:t>
            </a:r>
            <a:r>
              <a:rPr lang="en-US" altLang="zh-TW" sz="3200" dirty="0"/>
              <a:t>[</a:t>
            </a:r>
            <a:r>
              <a:rPr lang="zh-TW" altLang="en-US" sz="3200" dirty="0"/>
              <a:t>產生投影片</a:t>
            </a:r>
            <a:r>
              <a:rPr lang="en-US" altLang="zh-TW" sz="3200" dirty="0"/>
              <a:t>]</a:t>
            </a:r>
          </a:p>
        </p:txBody>
      </p:sp>
      <p:sp>
        <p:nvSpPr>
          <p:cNvPr id="7" name="箭號: 向下 6">
            <a:extLst>
              <a:ext uri="{FF2B5EF4-FFF2-40B4-BE49-F238E27FC236}">
                <a16:creationId xmlns:a16="http://schemas.microsoft.com/office/drawing/2014/main" id="{865A7498-F918-4D98-839B-BF4F0D66204E}"/>
              </a:ext>
            </a:extLst>
          </p:cNvPr>
          <p:cNvSpPr/>
          <p:nvPr/>
        </p:nvSpPr>
        <p:spPr>
          <a:xfrm>
            <a:off x="9529233" y="1490133"/>
            <a:ext cx="330200" cy="37253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2360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A488C1-87DE-4E2A-8EC6-19E31B81A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1C25FC-5F11-4556-9CED-D505F72DC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F587D8F-0CE2-4175-B212-F097A53FA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011"/>
            <a:ext cx="12192000" cy="5717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6589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E461586F-B449-43AF-94B8-932C28D7F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32" y="962925"/>
            <a:ext cx="9895409" cy="5310875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637DED57-B5B6-47B7-AF15-57A4EAE599A3}"/>
              </a:ext>
            </a:extLst>
          </p:cNvPr>
          <p:cNvSpPr txBox="1">
            <a:spLocks/>
          </p:cNvSpPr>
          <p:nvPr/>
        </p:nvSpPr>
        <p:spPr>
          <a:xfrm>
            <a:off x="728134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/>
              <a:t>點選 個別的專案，撰寫專案整體進度</a:t>
            </a:r>
            <a:endParaRPr lang="en-US" altLang="zh-TW" sz="32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E621A24-1E0A-45B2-883D-99977B828628}"/>
              </a:ext>
            </a:extLst>
          </p:cNvPr>
          <p:cNvSpPr/>
          <p:nvPr/>
        </p:nvSpPr>
        <p:spPr>
          <a:xfrm>
            <a:off x="4108093" y="2288488"/>
            <a:ext cx="3046239" cy="17924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74137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BCEF26AF-6AA7-4D90-9A90-FC616B785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41" y="1325563"/>
            <a:ext cx="10919125" cy="4677127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637DED57-B5B6-47B7-AF15-57A4EAE599A3}"/>
              </a:ext>
            </a:extLst>
          </p:cNvPr>
          <p:cNvSpPr txBox="1">
            <a:spLocks/>
          </p:cNvSpPr>
          <p:nvPr/>
        </p:nvSpPr>
        <p:spPr>
          <a:xfrm>
            <a:off x="728134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/>
              <a:t>在專案進度的項目中，點選 </a:t>
            </a:r>
            <a:r>
              <a:rPr lang="en-US" altLang="zh-TW" sz="3200" dirty="0"/>
              <a:t>[</a:t>
            </a:r>
            <a:r>
              <a:rPr lang="zh-TW" altLang="en-US" sz="3200" dirty="0"/>
              <a:t>編輯內容</a:t>
            </a:r>
            <a:r>
              <a:rPr lang="en-US" altLang="zh-TW" sz="3200" dirty="0"/>
              <a:t>]</a:t>
            </a:r>
          </a:p>
        </p:txBody>
      </p:sp>
      <p:sp>
        <p:nvSpPr>
          <p:cNvPr id="7" name="箭號: 向下 6">
            <a:extLst>
              <a:ext uri="{FF2B5EF4-FFF2-40B4-BE49-F238E27FC236}">
                <a16:creationId xmlns:a16="http://schemas.microsoft.com/office/drawing/2014/main" id="{64AFED10-4282-41A2-94A2-B5CD98AA697F}"/>
              </a:ext>
            </a:extLst>
          </p:cNvPr>
          <p:cNvSpPr/>
          <p:nvPr/>
        </p:nvSpPr>
        <p:spPr>
          <a:xfrm>
            <a:off x="10469033" y="2573866"/>
            <a:ext cx="330200" cy="37253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3125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27E6FEAD-BD3F-41DC-8656-D04002624E22}"/>
              </a:ext>
            </a:extLst>
          </p:cNvPr>
          <p:cNvSpPr/>
          <p:nvPr/>
        </p:nvSpPr>
        <p:spPr>
          <a:xfrm>
            <a:off x="2637366" y="728988"/>
            <a:ext cx="6917267" cy="43242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TW" sz="1100" dirty="0"/>
              <a:t>### </a:t>
            </a:r>
            <a:r>
              <a:rPr lang="zh-TW" altLang="en-US" sz="1100" dirty="0"/>
              <a:t>🌐 </a:t>
            </a:r>
            <a:r>
              <a:rPr lang="en-US" altLang="zh-TW" sz="1100" dirty="0" err="1"/>
              <a:t>DeviceOn</a:t>
            </a:r>
            <a:endParaRPr lang="en-US" altLang="zh-TW" sz="1100" dirty="0"/>
          </a:p>
          <a:p>
            <a:r>
              <a:rPr lang="en-US" altLang="zh-TW" sz="1100" dirty="0"/>
              <a:t>* **Owner**</a:t>
            </a:r>
            <a:r>
              <a:rPr lang="zh-TW" altLang="en-US" sz="1100" dirty="0"/>
              <a:t>：</a:t>
            </a:r>
            <a:r>
              <a:rPr lang="en-US" altLang="zh-TW" sz="1100" dirty="0"/>
              <a:t>[</a:t>
            </a:r>
            <a:r>
              <a:rPr lang="zh-TW" altLang="en-US" sz="1100" dirty="0"/>
              <a:t>姓名</a:t>
            </a:r>
            <a:r>
              <a:rPr lang="en-US" altLang="zh-TW" sz="1100" dirty="0"/>
              <a:t>]</a:t>
            </a:r>
          </a:p>
          <a:p>
            <a:endParaRPr lang="en-US" altLang="zh-TW" sz="1100" dirty="0"/>
          </a:p>
          <a:p>
            <a:r>
              <a:rPr lang="en-US" altLang="zh-TW" sz="1100" dirty="0"/>
              <a:t>#### </a:t>
            </a:r>
            <a:r>
              <a:rPr lang="zh-TW" altLang="en-US" sz="1100" dirty="0"/>
              <a:t>📦 </a:t>
            </a:r>
            <a:r>
              <a:rPr lang="en-US" altLang="zh-TW" sz="1100" dirty="0"/>
              <a:t>[</a:t>
            </a:r>
            <a:r>
              <a:rPr lang="zh-TW" altLang="en-US" sz="1100" dirty="0"/>
              <a:t>子項目名稱</a:t>
            </a:r>
            <a:r>
              <a:rPr lang="en-US" altLang="zh-TW" sz="1100" dirty="0"/>
              <a:t>]</a:t>
            </a:r>
          </a:p>
          <a:p>
            <a:r>
              <a:rPr lang="en-US" altLang="zh-TW" sz="1100" dirty="0"/>
              <a:t>* **</a:t>
            </a:r>
            <a:r>
              <a:rPr lang="zh-TW" altLang="en-US" sz="1100" dirty="0"/>
              <a:t>階段**：</a:t>
            </a:r>
            <a:r>
              <a:rPr lang="en-US" altLang="zh-TW" sz="1100" dirty="0"/>
              <a:t>[</a:t>
            </a:r>
            <a:r>
              <a:rPr lang="zh-TW" altLang="en-US" sz="1100" dirty="0"/>
              <a:t>目前所處階段</a:t>
            </a:r>
            <a:r>
              <a:rPr lang="en-US" altLang="zh-TW" sz="1100" dirty="0"/>
              <a:t>]</a:t>
            </a:r>
          </a:p>
          <a:p>
            <a:r>
              <a:rPr lang="en-US" altLang="zh-TW" sz="1100" dirty="0"/>
              <a:t>* **</a:t>
            </a:r>
            <a:r>
              <a:rPr lang="zh-TW" altLang="en-US" sz="1100" dirty="0"/>
              <a:t>本週進度**：</a:t>
            </a:r>
          </a:p>
          <a:p>
            <a:r>
              <a:rPr lang="zh-TW" altLang="en-US" sz="1100" dirty="0"/>
              <a:t>  * 🎉 </a:t>
            </a:r>
            <a:r>
              <a:rPr lang="en-US" altLang="zh-TW" sz="1100" dirty="0"/>
              <a:t>[NEW DONE] [</a:t>
            </a:r>
            <a:r>
              <a:rPr lang="zh-TW" altLang="en-US" sz="1100" dirty="0"/>
              <a:t>本週全新完成的項目</a:t>
            </a:r>
            <a:r>
              <a:rPr lang="en-US" altLang="zh-TW" sz="1100" dirty="0"/>
              <a:t>]</a:t>
            </a:r>
          </a:p>
          <a:p>
            <a:r>
              <a:rPr lang="en-US" altLang="zh-TW" sz="1100" dirty="0"/>
              <a:t>  * ✅ [DONE] [</a:t>
            </a:r>
            <a:r>
              <a:rPr lang="zh-TW" altLang="en-US" sz="1100" dirty="0"/>
              <a:t>之前就已完成的背景資訊</a:t>
            </a:r>
            <a:r>
              <a:rPr lang="en-US" altLang="zh-TW" sz="1100" dirty="0"/>
              <a:t>]</a:t>
            </a:r>
          </a:p>
          <a:p>
            <a:r>
              <a:rPr lang="en-US" altLang="zh-TW" sz="1100" dirty="0"/>
              <a:t>  * ⏳ [WIP] [</a:t>
            </a:r>
            <a:r>
              <a:rPr lang="zh-TW" altLang="en-US" sz="1100" dirty="0"/>
              <a:t>正常進行中的項目</a:t>
            </a:r>
            <a:r>
              <a:rPr lang="en-US" altLang="zh-TW" sz="1100" dirty="0"/>
              <a:t>]</a:t>
            </a:r>
          </a:p>
          <a:p>
            <a:endParaRPr lang="en-US" altLang="zh-TW" sz="1100" dirty="0"/>
          </a:p>
          <a:p>
            <a:r>
              <a:rPr lang="en-US" altLang="zh-TW" sz="1100" dirty="0"/>
              <a:t>---</a:t>
            </a:r>
          </a:p>
          <a:p>
            <a:r>
              <a:rPr lang="en-US" altLang="zh-TW" sz="1100" dirty="0"/>
              <a:t>* **⚠️ </a:t>
            </a:r>
            <a:r>
              <a:rPr lang="zh-TW" altLang="en-US" sz="1100" dirty="0"/>
              <a:t>風險與阻礙**：無</a:t>
            </a:r>
          </a:p>
          <a:p>
            <a:r>
              <a:rPr lang="zh-TW" altLang="en-US" sz="1100" dirty="0"/>
              <a:t>* **💡 需要的決策或協助**：無</a:t>
            </a:r>
          </a:p>
          <a:p>
            <a:endParaRPr lang="zh-TW" altLang="en-US" sz="1100" dirty="0"/>
          </a:p>
          <a:p>
            <a:r>
              <a:rPr lang="en-US" altLang="zh-TW" sz="1100" dirty="0"/>
              <a:t>&lt;!--</a:t>
            </a:r>
          </a:p>
          <a:p>
            <a:r>
              <a:rPr lang="en-US" altLang="zh-TW" sz="1100" dirty="0"/>
              <a:t>| </a:t>
            </a:r>
            <a:r>
              <a:rPr lang="zh-TW" altLang="en-US" sz="1100" dirty="0"/>
              <a:t>標籤語法 </a:t>
            </a:r>
            <a:r>
              <a:rPr lang="en-US" altLang="zh-TW" sz="1100" dirty="0"/>
              <a:t>| </a:t>
            </a:r>
            <a:r>
              <a:rPr lang="zh-TW" altLang="en-US" sz="1100" dirty="0"/>
              <a:t>語意說明 </a:t>
            </a:r>
            <a:r>
              <a:rPr lang="en-US" altLang="zh-TW" sz="1100" dirty="0"/>
              <a:t>| AI </a:t>
            </a:r>
            <a:r>
              <a:rPr lang="zh-TW" altLang="en-US" sz="1100" dirty="0"/>
              <a:t>生成 </a:t>
            </a:r>
            <a:r>
              <a:rPr lang="en-US" altLang="zh-TW" sz="1100" dirty="0"/>
              <a:t>HTML </a:t>
            </a:r>
            <a:r>
              <a:rPr lang="zh-TW" altLang="en-US" sz="1100" dirty="0"/>
              <a:t>時的渲染效果建議 </a:t>
            </a:r>
            <a:r>
              <a:rPr lang="en-US" altLang="zh-TW" sz="1100" dirty="0"/>
              <a:t>|</a:t>
            </a:r>
          </a:p>
          <a:p>
            <a:r>
              <a:rPr lang="en-US" altLang="zh-TW" sz="1100" dirty="0"/>
              <a:t>| --------| ------- | ---------------------------- |</a:t>
            </a:r>
          </a:p>
          <a:p>
            <a:r>
              <a:rPr lang="en-US" altLang="zh-TW" sz="1100" dirty="0"/>
              <a:t>| `</a:t>
            </a:r>
            <a:r>
              <a:rPr lang="zh-TW" altLang="en-US" sz="1100" dirty="0"/>
              <a:t>🎉 </a:t>
            </a:r>
            <a:r>
              <a:rPr lang="en-US" altLang="zh-TW" sz="1100" dirty="0"/>
              <a:t>[NEW DONE]` | **</a:t>
            </a:r>
            <a:r>
              <a:rPr lang="zh-TW" altLang="en-US" sz="1100" dirty="0"/>
              <a:t>本週全新完成** </a:t>
            </a:r>
            <a:r>
              <a:rPr lang="en-US" altLang="zh-TW" sz="1100" dirty="0"/>
              <a:t>| </a:t>
            </a:r>
            <a:r>
              <a:rPr lang="zh-TW" altLang="en-US" sz="1100" dirty="0"/>
              <a:t>亮綠色卡片 </a:t>
            </a:r>
            <a:r>
              <a:rPr lang="en-US" altLang="zh-TW" sz="1100" dirty="0"/>
              <a:t>/ </a:t>
            </a:r>
            <a:r>
              <a:rPr lang="zh-TW" altLang="en-US" sz="1100" dirty="0"/>
              <a:t>發光綠色 </a:t>
            </a:r>
            <a:r>
              <a:rPr lang="en-US" altLang="zh-TW" sz="1100" dirty="0"/>
              <a:t>Badge |</a:t>
            </a:r>
          </a:p>
          <a:p>
            <a:r>
              <a:rPr lang="en-US" altLang="zh-TW" sz="1100" dirty="0"/>
              <a:t>| `✅ [DONE]` | </a:t>
            </a:r>
            <a:r>
              <a:rPr lang="zh-TW" altLang="en-US" sz="1100" dirty="0"/>
              <a:t>之前就已完成（背景資訊） </a:t>
            </a:r>
            <a:r>
              <a:rPr lang="en-US" altLang="zh-TW" sz="1100" dirty="0"/>
              <a:t>| </a:t>
            </a:r>
            <a:r>
              <a:rPr lang="zh-TW" altLang="en-US" sz="1100" dirty="0"/>
              <a:t>灰綠色低調標籤 </a:t>
            </a:r>
            <a:r>
              <a:rPr lang="en-US" altLang="zh-TW" sz="1100" dirty="0"/>
              <a:t>|</a:t>
            </a:r>
          </a:p>
          <a:p>
            <a:r>
              <a:rPr lang="en-US" altLang="zh-TW" sz="1100" dirty="0"/>
              <a:t>| `⚡ [UPDATED]` | **</a:t>
            </a:r>
            <a:r>
              <a:rPr lang="zh-TW" altLang="en-US" sz="1100" dirty="0"/>
              <a:t>本週有重要進展</a:t>
            </a:r>
            <a:r>
              <a:rPr lang="en-US" altLang="zh-TW" sz="1100" dirty="0"/>
              <a:t>/</a:t>
            </a:r>
            <a:r>
              <a:rPr lang="zh-TW" altLang="en-US" sz="1100" dirty="0"/>
              <a:t>狀態變更** </a:t>
            </a:r>
            <a:r>
              <a:rPr lang="en-US" altLang="zh-TW" sz="1100" dirty="0"/>
              <a:t>| </a:t>
            </a:r>
            <a:r>
              <a:rPr lang="zh-TW" altLang="en-US" sz="1100" dirty="0"/>
              <a:t>藍色 </a:t>
            </a:r>
            <a:r>
              <a:rPr lang="en-US" altLang="zh-TW" sz="1100" dirty="0"/>
              <a:t>/ </a:t>
            </a:r>
            <a:r>
              <a:rPr lang="zh-TW" altLang="en-US" sz="1100" dirty="0"/>
              <a:t>紫色高亮標籤 </a:t>
            </a:r>
            <a:r>
              <a:rPr lang="en-US" altLang="zh-TW" sz="1100" dirty="0"/>
              <a:t>|</a:t>
            </a:r>
          </a:p>
          <a:p>
            <a:r>
              <a:rPr lang="en-US" altLang="zh-TW" sz="1100" dirty="0"/>
              <a:t>| `</a:t>
            </a:r>
            <a:r>
              <a:rPr lang="zh-TW" altLang="en-US" sz="1100" dirty="0"/>
              <a:t>🆕 </a:t>
            </a:r>
            <a:r>
              <a:rPr lang="en-US" altLang="zh-TW" sz="1100" dirty="0"/>
              <a:t>[NEW]` | </a:t>
            </a:r>
            <a:r>
              <a:rPr lang="zh-TW" altLang="en-US" sz="1100" dirty="0"/>
              <a:t>本週新提出</a:t>
            </a:r>
            <a:r>
              <a:rPr lang="en-US" altLang="zh-TW" sz="1100" dirty="0"/>
              <a:t>/</a:t>
            </a:r>
            <a:r>
              <a:rPr lang="zh-TW" altLang="en-US" sz="1100" dirty="0"/>
              <a:t>新增的項目 </a:t>
            </a:r>
            <a:r>
              <a:rPr lang="en-US" altLang="zh-TW" sz="1100" dirty="0"/>
              <a:t>| </a:t>
            </a:r>
            <a:r>
              <a:rPr lang="zh-TW" altLang="en-US" sz="1100" dirty="0"/>
              <a:t>亮黃色 </a:t>
            </a:r>
            <a:r>
              <a:rPr lang="en-US" altLang="zh-TW" sz="1100" dirty="0"/>
              <a:t>`NEW` </a:t>
            </a:r>
            <a:r>
              <a:rPr lang="zh-TW" altLang="en-US" sz="1100" dirty="0"/>
              <a:t>動態標籤 </a:t>
            </a:r>
            <a:r>
              <a:rPr lang="en-US" altLang="zh-TW" sz="1100" dirty="0"/>
              <a:t>|</a:t>
            </a:r>
          </a:p>
          <a:p>
            <a:r>
              <a:rPr lang="en-US" altLang="zh-TW" sz="1100" dirty="0"/>
              <a:t>| `⏳ [WIP]` | </a:t>
            </a:r>
            <a:r>
              <a:rPr lang="zh-TW" altLang="en-US" sz="1100" dirty="0"/>
              <a:t>正常進行中 </a:t>
            </a:r>
            <a:r>
              <a:rPr lang="en-US" altLang="zh-TW" sz="1100" dirty="0"/>
              <a:t>| </a:t>
            </a:r>
            <a:r>
              <a:rPr lang="zh-TW" altLang="en-US" sz="1100" dirty="0"/>
              <a:t>預設灰色 </a:t>
            </a:r>
            <a:r>
              <a:rPr lang="en-US" altLang="zh-TW" sz="1100" dirty="0"/>
              <a:t>/ </a:t>
            </a:r>
            <a:r>
              <a:rPr lang="zh-TW" altLang="en-US" sz="1100" dirty="0"/>
              <a:t>藍色標籤 </a:t>
            </a:r>
            <a:r>
              <a:rPr lang="en-US" altLang="zh-TW" sz="1100" dirty="0"/>
              <a:t>|</a:t>
            </a:r>
          </a:p>
          <a:p>
            <a:r>
              <a:rPr lang="en-US" altLang="zh-TW" sz="1100" dirty="0"/>
              <a:t>| `</a:t>
            </a:r>
            <a:r>
              <a:rPr lang="zh-TW" altLang="en-US" sz="1100" dirty="0"/>
              <a:t>🚫 </a:t>
            </a:r>
            <a:r>
              <a:rPr lang="en-US" altLang="zh-TW" sz="1100" dirty="0"/>
              <a:t>[BLOCKED]` | </a:t>
            </a:r>
            <a:r>
              <a:rPr lang="zh-TW" altLang="en-US" sz="1100" dirty="0"/>
              <a:t>卡關 </a:t>
            </a:r>
            <a:r>
              <a:rPr lang="en-US" altLang="zh-TW" sz="1100" dirty="0"/>
              <a:t>/ </a:t>
            </a:r>
            <a:r>
              <a:rPr lang="zh-TW" altLang="en-US" sz="1100" dirty="0"/>
              <a:t>需跨團隊協助 </a:t>
            </a:r>
            <a:r>
              <a:rPr lang="en-US" altLang="zh-TW" sz="1100" dirty="0"/>
              <a:t>| </a:t>
            </a:r>
            <a:r>
              <a:rPr lang="zh-TW" altLang="en-US" sz="1100" dirty="0"/>
              <a:t>紅色警示邊框 </a:t>
            </a:r>
            <a:r>
              <a:rPr lang="en-US" altLang="zh-TW" sz="1100" dirty="0"/>
              <a:t>/ </a:t>
            </a:r>
            <a:r>
              <a:rPr lang="zh-TW" altLang="en-US" sz="1100" dirty="0"/>
              <a:t>紅色 </a:t>
            </a:r>
            <a:r>
              <a:rPr lang="en-US" altLang="zh-TW" sz="1100" dirty="0"/>
              <a:t>Card |</a:t>
            </a:r>
          </a:p>
          <a:p>
            <a:r>
              <a:rPr lang="en-US" altLang="zh-TW" sz="1100" dirty="0"/>
              <a:t>--&gt;</a:t>
            </a:r>
          </a:p>
          <a:p>
            <a:endParaRPr lang="en-US" altLang="zh-TW" sz="11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08BDD3C-CCA1-4249-9A7E-8CD25AE7C62F}"/>
              </a:ext>
            </a:extLst>
          </p:cNvPr>
          <p:cNvSpPr/>
          <p:nvPr/>
        </p:nvSpPr>
        <p:spPr>
          <a:xfrm>
            <a:off x="3849230" y="120446"/>
            <a:ext cx="44935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dirty="0"/>
              <a:t>請參考下方的範例模板進行填寫</a:t>
            </a:r>
          </a:p>
        </p:txBody>
      </p:sp>
    </p:spTree>
    <p:extLst>
      <p:ext uri="{BB962C8B-B14F-4D97-AF65-F5344CB8AC3E}">
        <p14:creationId xmlns:p14="http://schemas.microsoft.com/office/powerpoint/2010/main" val="2147431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387032E-1092-4E59-AA94-17155ED83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67" y="1115410"/>
            <a:ext cx="9609666" cy="5692642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637DED57-B5B6-47B7-AF15-57A4EAE599A3}"/>
              </a:ext>
            </a:extLst>
          </p:cNvPr>
          <p:cNvSpPr txBox="1">
            <a:spLocks/>
          </p:cNvSpPr>
          <p:nvPr/>
        </p:nvSpPr>
        <p:spPr>
          <a:xfrm>
            <a:off x="728134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/>
              <a:t>請按照模板進行填寫，並點選 </a:t>
            </a:r>
            <a:r>
              <a:rPr lang="en-US" altLang="zh-TW" sz="3200" dirty="0"/>
              <a:t>[</a:t>
            </a:r>
            <a:r>
              <a:rPr lang="zh-TW" altLang="en-US" sz="3200" dirty="0"/>
              <a:t>儲存</a:t>
            </a:r>
            <a:r>
              <a:rPr lang="en-US" altLang="zh-TW" sz="3200" dirty="0"/>
              <a:t>]</a:t>
            </a:r>
            <a:r>
              <a:rPr lang="zh-TW" altLang="en-US" sz="3200" dirty="0"/>
              <a:t> 與 </a:t>
            </a:r>
            <a:r>
              <a:rPr lang="en-US" altLang="zh-TW" sz="3200" dirty="0"/>
              <a:t>[</a:t>
            </a:r>
            <a:r>
              <a:rPr lang="zh-TW" altLang="en-US" sz="3200" dirty="0"/>
              <a:t>產生投影片</a:t>
            </a:r>
            <a:r>
              <a:rPr lang="en-US" altLang="zh-TW" sz="3200" dirty="0"/>
              <a:t>]</a:t>
            </a:r>
          </a:p>
        </p:txBody>
      </p:sp>
      <p:sp>
        <p:nvSpPr>
          <p:cNvPr id="7" name="箭號: 向下 6">
            <a:extLst>
              <a:ext uri="{FF2B5EF4-FFF2-40B4-BE49-F238E27FC236}">
                <a16:creationId xmlns:a16="http://schemas.microsoft.com/office/drawing/2014/main" id="{64AFED10-4282-41A2-94A2-B5CD98AA697F}"/>
              </a:ext>
            </a:extLst>
          </p:cNvPr>
          <p:cNvSpPr/>
          <p:nvPr/>
        </p:nvSpPr>
        <p:spPr>
          <a:xfrm>
            <a:off x="9410701" y="1490133"/>
            <a:ext cx="330200" cy="37253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01519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7D5B50-8D5A-4467-A424-5479240A4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434347D-85E8-4C11-83DE-E105AD501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4367D18-EA43-45D4-BFB7-12D1DE5A8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597"/>
            <a:ext cx="12192000" cy="576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659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277F4E-06F7-4B0F-B5E3-7EA1CADD9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EB903F-24CF-4015-AE23-BAA4C6CAA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FB43D11-AA9E-415C-998D-F5F1E1E05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0951"/>
            <a:ext cx="12192000" cy="5756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5435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1AA2B3-1A83-4C27-9008-7F1AD6B1A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61378"/>
            <a:ext cx="10515600" cy="1325563"/>
          </a:xfrm>
        </p:spPr>
        <p:txBody>
          <a:bodyPr/>
          <a:lstStyle/>
          <a:p>
            <a:r>
              <a:rPr lang="zh-TW" altLang="en-US" b="1" dirty="0"/>
              <a:t>成果展示</a:t>
            </a:r>
          </a:p>
        </p:txBody>
      </p:sp>
    </p:spTree>
    <p:extLst>
      <p:ext uri="{BB962C8B-B14F-4D97-AF65-F5344CB8AC3E}">
        <p14:creationId xmlns:p14="http://schemas.microsoft.com/office/powerpoint/2010/main" val="39917517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2023D4B0-5F70-48B1-BCB6-7805D1E10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067" y="1022937"/>
            <a:ext cx="9508068" cy="5544464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637DED57-B5B6-47B7-AF15-57A4EAE599A3}"/>
              </a:ext>
            </a:extLst>
          </p:cNvPr>
          <p:cNvSpPr txBox="1">
            <a:spLocks/>
          </p:cNvSpPr>
          <p:nvPr/>
        </p:nvSpPr>
        <p:spPr>
          <a:xfrm>
            <a:off x="728134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/>
              <a:t>點選 </a:t>
            </a:r>
            <a:r>
              <a:rPr lang="en-US" altLang="zh-TW" sz="3200" dirty="0"/>
              <a:t>[</a:t>
            </a:r>
            <a:r>
              <a:rPr lang="zh-TW" altLang="en-US" sz="3200" dirty="0"/>
              <a:t>成果展示</a:t>
            </a:r>
            <a:r>
              <a:rPr lang="en-US" altLang="zh-TW" sz="3200" dirty="0"/>
              <a:t>]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E621A24-1E0A-45B2-883D-99977B828628}"/>
              </a:ext>
            </a:extLst>
          </p:cNvPr>
          <p:cNvSpPr/>
          <p:nvPr/>
        </p:nvSpPr>
        <p:spPr>
          <a:xfrm>
            <a:off x="7884227" y="1093084"/>
            <a:ext cx="633240" cy="2409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91890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637DED57-B5B6-47B7-AF15-57A4EAE599A3}"/>
              </a:ext>
            </a:extLst>
          </p:cNvPr>
          <p:cNvSpPr txBox="1">
            <a:spLocks/>
          </p:cNvSpPr>
          <p:nvPr/>
        </p:nvSpPr>
        <p:spPr>
          <a:xfrm>
            <a:off x="728134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dirty="0"/>
              <a:t>請按照順序進行投影</a:t>
            </a:r>
            <a:endParaRPr lang="en-US" altLang="zh-TW" sz="32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083C8A8-B857-4440-9630-69600C3FD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067" y="1022937"/>
            <a:ext cx="9508068" cy="5544464"/>
          </a:xfrm>
          <a:prstGeom prst="rect">
            <a:avLst/>
          </a:prstGeom>
        </p:spPr>
      </p:pic>
      <p:sp>
        <p:nvSpPr>
          <p:cNvPr id="8" name="箭號: 向下 7">
            <a:extLst>
              <a:ext uri="{FF2B5EF4-FFF2-40B4-BE49-F238E27FC236}">
                <a16:creationId xmlns:a16="http://schemas.microsoft.com/office/drawing/2014/main" id="{BBAD8F5A-EDFA-4298-B397-9E2515408E33}"/>
              </a:ext>
            </a:extLst>
          </p:cNvPr>
          <p:cNvSpPr/>
          <p:nvPr/>
        </p:nvSpPr>
        <p:spPr>
          <a:xfrm rot="16200000">
            <a:off x="563033" y="2396066"/>
            <a:ext cx="330200" cy="37253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920CFFB-AB37-41B8-A55A-BC55C4EE74AA}"/>
              </a:ext>
            </a:extLst>
          </p:cNvPr>
          <p:cNvSpPr txBox="1"/>
          <p:nvPr/>
        </p:nvSpPr>
        <p:spPr>
          <a:xfrm rot="5400000">
            <a:off x="572354" y="382982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…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箭號: 向下 9">
            <a:extLst>
              <a:ext uri="{FF2B5EF4-FFF2-40B4-BE49-F238E27FC236}">
                <a16:creationId xmlns:a16="http://schemas.microsoft.com/office/drawing/2014/main" id="{5CEB211A-3A5D-49DE-A885-CBFDF7AB09B2}"/>
              </a:ext>
            </a:extLst>
          </p:cNvPr>
          <p:cNvSpPr/>
          <p:nvPr/>
        </p:nvSpPr>
        <p:spPr>
          <a:xfrm rot="16200000">
            <a:off x="550620" y="3132666"/>
            <a:ext cx="330200" cy="37253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6412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1068</TotalTime>
  <Words>886</Words>
  <Application>Microsoft Office PowerPoint</Application>
  <PresentationFormat>寬螢幕</PresentationFormat>
  <Paragraphs>97</Paragraphs>
  <Slides>28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3" baseType="lpstr">
      <vt:lpstr>新細明體</vt:lpstr>
      <vt:lpstr>Arial</vt:lpstr>
      <vt:lpstr>Calibri</vt:lpstr>
      <vt:lpstr>Calibri Light</vt:lpstr>
      <vt:lpstr>Office 佈景主題</vt:lpstr>
      <vt:lpstr>SyncBoard 使用說明文件</vt:lpstr>
      <vt:lpstr>個人報告上傳</vt:lpstr>
      <vt:lpstr>選擇 [會議日期] 後點選 [前往]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整體進度上傳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成果展示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SyncBoard 使用說明文件</dc:title>
  <dc:creator>Fabian.Chung</dc:creator>
  <cp:lastModifiedBy>Fabian.Chung</cp:lastModifiedBy>
  <cp:revision>22</cp:revision>
  <dcterms:created xsi:type="dcterms:W3CDTF">2026-08-12T08:50:49Z</dcterms:created>
  <dcterms:modified xsi:type="dcterms:W3CDTF">2026-08-17T06:52:53Z</dcterms:modified>
</cp:coreProperties>
</file>